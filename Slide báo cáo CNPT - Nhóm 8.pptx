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ink/ink1.xml" ContentType="application/inkml+xml"/>
  <Override PartName="/ppt/ink/ink2.xml" ContentType="application/inkml+xml"/>
  <Override PartName="/ppt/media/image16.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FA0695-3FA3-4954-8CF4-8AE4920CA13D}" v="355" dt="2026-04-18T11:13:35.108"/>
    <p1510:client id="{F211D560-4EB0-431B-B950-9CD0B21B0A99}" v="1340" dt="2026-04-18T10:35:04.4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94660"/>
  </p:normalViewPr>
  <p:slideViewPr>
    <p:cSldViewPr snapToGrid="0">
      <p:cViewPr varScale="1">
        <p:scale>
          <a:sx n="85" d="100"/>
          <a:sy n="85" d="100"/>
        </p:scale>
        <p:origin x="30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5/10/relationships/revisionInfo" Target="revisionInfo.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8T10:35:23.348"/>
    </inkml:context>
    <inkml:brush xml:id="br0">
      <inkml:brushProperty name="width" value="0.1" units="cm"/>
      <inkml:brushProperty name="height" value="0.1" units="cm"/>
      <inkml:brushProperty name="color" value="#FFFFFF"/>
    </inkml:brush>
  </inkml:definitions>
  <inkml:trace contextRef="#ctx0" brushRef="#br0">16182 6985 16383 0 0,'5'0'0'0'0,"2"5"0"0"0,5 18 0 0 0,6 37 0 0 0,0 34 0 0 0,-4 28 0 0 0,-3 20 0 0 0,1 6 0 0 0,-2 5 0 0 0,4 9 0 0 0,-1-3 0 0 0,2-13 0 0 0,-1-9 0 0 0,-3-7 0 0 0,-3-15 0 0 0,-4-17 0 0 0,-1-19 0 0 0,-2-19 0 0 0,-1-13 0 0 0,-1-10 0 0 0,0-5 0 0 0,1-4 0 0 0,-1-1 0 0 0,1 1 0 0 0,0-5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8T10:35:23.349"/>
    </inkml:context>
    <inkml:brush xml:id="br0">
      <inkml:brushProperty name="width" value="0.1" units="cm"/>
      <inkml:brushProperty name="height" value="0.1" units="cm"/>
      <inkml:brushProperty name="color" value="#FFFFFF"/>
    </inkml:brush>
  </inkml:definitions>
  <inkml:trace contextRef="#ctx0" brushRef="#br0">16483 7387 16383 0 0,'0'11'0'0'0,"5"40"0"0"0,2 43 0 0 0,0 22 0 0 0,-2 18 0 0 0,-1 22 0 0 0,-1 23 0 0 0,-2 12 0 0 0,-1 10 0 0 0,0-1 0 0 0,0-20 0 0 0,-11-25 0 0 0,-14-27 0 0 0,-13-31 0 0 0,-1-31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18/4/2026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5641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18/4/2026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90114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18/4/2026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42568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18/4/2026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44950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18/4/2026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27705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18/4/2026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05802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18/4/2026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47799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18/4/2026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93310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18/4/2026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99522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18/4/2026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079853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18/4/2026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5694576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lIns="109728" tIns="109728" rIns="109728" bIns="91440"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lIns="109728" tIns="109728" rIns="109728" bIns="91440" anchor="ctr"/>
          <a:lstStyle>
            <a:lvl1pPr algn="l">
              <a:defRPr sz="1200">
                <a:solidFill>
                  <a:schemeClr val="tx1">
                    <a:tint val="75000"/>
                  </a:schemeClr>
                </a:solidFill>
              </a:defRPr>
            </a:lvl1pPr>
          </a:lstStyle>
          <a:p>
            <a:fld id="{02AC24A9-CCB6-4F8D-B8DB-C2F3692CFA5A}" type="datetimeFigureOut">
              <a:rPr lang="en-US" smtClean="0"/>
              <a:t>18/4/2026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lIns="109728" tIns="109728" rIns="109728" bIns="9144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lIns="109728" tIns="109728" rIns="109728" bIns="9144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36949890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txStyles>
    <p:titleStyle>
      <a:lvl1pPr algn="l" defTabSz="914400" rtl="0" eaLnBrk="1" latinLnBrk="0" hangingPunct="1">
        <a:lnSpc>
          <a:spcPct val="114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4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4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ustomXml" Target="../ink/ink1.xml"/><Relationship Id="rId3" Type="http://schemas.openxmlformats.org/officeDocument/2006/relationships/image" Target="../media/image3.png"/><Relationship Id="rId4" Type="http://schemas.openxmlformats.org/officeDocument/2006/relationships/customXml" Target="../ink/ink2.xml"/><Relationship Id="rId5" Type="http://schemas.openxmlformats.org/officeDocument/2006/relationships/image" Target="../media/image4.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a:extLst>
              <a:ext uri="{FF2B5EF4-FFF2-40B4-BE49-F238E27FC236}">
                <a16:creationId xmlns:a16="http://schemas.microsoft.com/office/drawing/2014/main" id="{748345BF-B091-D96E-D85A-BFEF13E60EA0}"/>
              </a:ext>
            </a:extLst>
          </p:cNvPr>
          <p:cNvPicPr>
            <a:picLocks noChangeAspect="1"/>
          </p:cNvPicPr>
          <p:nvPr/>
        </p:nvPicPr>
        <p:blipFill>
          <a:blip r:embed="rId2"/>
          <a:srcRect t="1084" r="8" b="8"/>
          <a:stretch>
            <a:fillRect/>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êu đề 1"/>
          <p:cNvSpPr>
            <a:spLocks noGrp="1"/>
          </p:cNvSpPr>
          <p:nvPr>
            <p:ph type="ctrTitle"/>
          </p:nvPr>
        </p:nvSpPr>
        <p:spPr>
          <a:xfrm>
            <a:off x="477981" y="1122363"/>
            <a:ext cx="4023360" cy="3204134"/>
          </a:xfrm>
        </p:spPr>
        <p:txBody>
          <a:bodyPr vert="horz" lIns="91440" tIns="45720" rIns="91440" bIns="45720" rtlCol="0" anchor="b">
            <a:normAutofit/>
          </a:bodyPr>
          <a:lstStyle/>
          <a:p>
            <a:pPr>
              <a:lnSpc>
                <a:spcPct val="90000"/>
              </a:lnSpc>
            </a:pPr>
            <a:r>
              <a:rPr lang="en-US" sz="3000" b="1"/>
              <a:t>XÂY DỰNG HỆ THỐNG QUẢN LÝ KHO &amp; HẠN SỬ DỤNG</a:t>
            </a:r>
            <a:endParaRPr lang="en-US" sz="3000"/>
          </a:p>
          <a:p>
            <a:pPr>
              <a:lnSpc>
                <a:spcPct val="90000"/>
              </a:lnSpc>
            </a:pPr>
            <a:r>
              <a:rPr lang="en-US" sz="3000" b="1"/>
              <a:t>CHO CỬA HÀNG THỰC PHẨM SẠCH FRESHCARE</a:t>
            </a:r>
            <a:endParaRPr lang="en-US" sz="3000"/>
          </a:p>
          <a:p>
            <a:pPr>
              <a:lnSpc>
                <a:spcPct val="90000"/>
              </a:lnSpc>
            </a:pPr>
            <a:endParaRPr lang="en-US" sz="3000"/>
          </a:p>
        </p:txBody>
      </p:sp>
      <p:sp>
        <p:nvSpPr>
          <p:cNvPr id="6" name="Hộp Văn bản 5">
            <a:extLst>
              <a:ext uri="{FF2B5EF4-FFF2-40B4-BE49-F238E27FC236}">
                <a16:creationId xmlns:a16="http://schemas.microsoft.com/office/drawing/2014/main" id="{D01E04DE-F3D6-8775-1192-4BCA94B9BAC4}"/>
              </a:ext>
            </a:extLst>
          </p:cNvPr>
          <p:cNvSpPr txBox="1"/>
          <p:nvPr/>
        </p:nvSpPr>
        <p:spPr>
          <a:xfrm>
            <a:off x="477980" y="4872922"/>
            <a:ext cx="4023359" cy="1208141"/>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lnSpc>
                <a:spcPct val="110000"/>
              </a:lnSpc>
              <a:spcBef>
                <a:spcPts val="1000"/>
              </a:spcBef>
            </a:pPr>
            <a:r>
              <a:rPr lang="en-US" sz="2000" dirty="0"/>
              <a:t>Thành </a:t>
            </a:r>
            <a:r>
              <a:rPr lang="en-US" sz="2000" dirty="0" err="1"/>
              <a:t>viên</a:t>
            </a:r>
            <a:r>
              <a:rPr lang="en-US" sz="2000" dirty="0"/>
              <a:t> </a:t>
            </a:r>
            <a:r>
              <a:rPr lang="en-US" sz="2000" dirty="0" err="1"/>
              <a:t>nhóm</a:t>
            </a:r>
            <a:r>
              <a:rPr lang="en-US" sz="2000" dirty="0"/>
              <a:t>: Nguyễn Duy Linh, Mai </a:t>
            </a:r>
            <a:r>
              <a:rPr lang="en-US" sz="2000" dirty="0" err="1"/>
              <a:t>Đăng</a:t>
            </a:r>
            <a:r>
              <a:rPr lang="en-US" sz="2000" dirty="0"/>
              <a:t> Cường, </a:t>
            </a:r>
            <a:r>
              <a:rPr lang="en-US" sz="2000" dirty="0" err="1"/>
              <a:t>Sầm</a:t>
            </a:r>
            <a:r>
              <a:rPr lang="en-US" sz="2000" dirty="0"/>
              <a:t> Nam Tú, Nguyễn Nam Khánh, </a:t>
            </a:r>
            <a:r>
              <a:rPr lang="en-US" sz="2000" dirty="0" err="1"/>
              <a:t>Giàng</a:t>
            </a:r>
            <a:r>
              <a:rPr lang="en-US" sz="2000" dirty="0"/>
              <a:t> A </a:t>
            </a:r>
            <a:r>
              <a:rPr lang="en-US" sz="2000" dirty="0" err="1"/>
              <a:t>Tủa</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7927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793E138-A6A0-A57E-71C5-00C94031456B}"/>
              </a:ext>
            </a:extLst>
          </p:cNvPr>
          <p:cNvSpPr>
            <a:spLocks noGrp="1"/>
          </p:cNvSpPr>
          <p:nvPr>
            <p:ph type="title"/>
          </p:nvPr>
        </p:nvSpPr>
        <p:spPr/>
        <p:txBody>
          <a:bodyPr/>
          <a:lstStyle/>
          <a:p>
            <a:r>
              <a:rPr lang="vi-VN">
                <a:ea typeface="Source Sans Pro"/>
              </a:rPr>
              <a:t>Phụ lục </a:t>
            </a:r>
            <a:endParaRPr lang="vi-VN"/>
          </a:p>
        </p:txBody>
      </p:sp>
      <p:sp>
        <p:nvSpPr>
          <p:cNvPr id="3" name="Chỗ dành sẵn cho Nội dung 2">
            <a:extLst>
              <a:ext uri="{FF2B5EF4-FFF2-40B4-BE49-F238E27FC236}">
                <a16:creationId xmlns:a16="http://schemas.microsoft.com/office/drawing/2014/main" id="{58FC7C7B-19D0-FECC-8429-BAAC25047466}"/>
              </a:ext>
            </a:extLst>
          </p:cNvPr>
          <p:cNvSpPr>
            <a:spLocks noGrp="1"/>
          </p:cNvSpPr>
          <p:nvPr>
            <p:ph idx="1"/>
          </p:nvPr>
        </p:nvSpPr>
        <p:spPr>
          <a:xfrm>
            <a:off x="1115568" y="2085818"/>
            <a:ext cx="10325010" cy="3694176"/>
          </a:xfrm>
        </p:spPr>
        <p:txBody>
          <a:bodyPr lIns="109728" tIns="109728" rIns="109728" bIns="91440" anchor="t"/>
          <a:lstStyle/>
          <a:p>
            <a:pPr marL="457200" indent="-457200">
              <a:buAutoNum type="romanUcPeriod"/>
            </a:pPr>
            <a:r>
              <a:rPr lang="vi-VN" sz="2400" b="1">
                <a:ea typeface="+mn-lt"/>
                <a:cs typeface="+mn-lt"/>
              </a:rPr>
              <a:t>Tổng quan dự án </a:t>
            </a:r>
            <a:endParaRPr lang="vi-VN" sz="2400" dirty="0">
              <a:ea typeface="+mn-lt"/>
              <a:cs typeface="+mn-lt"/>
            </a:endParaRPr>
          </a:p>
          <a:p>
            <a:pPr>
              <a:lnSpc>
                <a:spcPct val="113999"/>
              </a:lnSpc>
              <a:buAutoNum type="romanUcPeriod"/>
            </a:pPr>
            <a:r>
              <a:rPr lang="vi-VN" sz="2400" b="1">
                <a:ea typeface="+mn-lt"/>
                <a:cs typeface="+mn-lt"/>
              </a:rPr>
              <a:t>   Phân tích &amp; Đặc tả yêu cầu</a:t>
            </a:r>
            <a:endParaRPr lang="vi-VN" sz="2400">
              <a:ea typeface="+mn-lt"/>
              <a:cs typeface="+mn-lt"/>
            </a:endParaRPr>
          </a:p>
          <a:p>
            <a:pPr>
              <a:lnSpc>
                <a:spcPct val="113999"/>
              </a:lnSpc>
              <a:buAutoNum type="romanUcPeriod"/>
            </a:pPr>
            <a:r>
              <a:rPr lang="vi-VN" sz="2400" b="1">
                <a:ea typeface="+mn-lt"/>
                <a:cs typeface="+mn-lt"/>
              </a:rPr>
              <a:t>  Thiết kế hệ thống &amp; Kiến trúc</a:t>
            </a:r>
            <a:endParaRPr lang="vi-VN" sz="2400">
              <a:ea typeface="+mn-lt"/>
              <a:cs typeface="+mn-lt"/>
            </a:endParaRPr>
          </a:p>
          <a:p>
            <a:pPr>
              <a:lnSpc>
                <a:spcPct val="113999"/>
              </a:lnSpc>
              <a:buAutoNum type="romanUcPeriod"/>
            </a:pPr>
            <a:r>
              <a:rPr lang="en-US" sz="2400" b="1" dirty="0">
                <a:ea typeface="+mn-lt"/>
                <a:cs typeface="+mn-lt"/>
              </a:rPr>
              <a:t>  </a:t>
            </a:r>
            <a:r>
              <a:rPr lang="en-US" sz="2400" b="1" dirty="0" err="1">
                <a:ea typeface="+mn-lt"/>
                <a:cs typeface="+mn-lt"/>
              </a:rPr>
              <a:t>Giải</a:t>
            </a:r>
            <a:r>
              <a:rPr lang="en-US" sz="2400" b="1" dirty="0">
                <a:ea typeface="+mn-lt"/>
                <a:cs typeface="+mn-lt"/>
              </a:rPr>
              <a:t> </a:t>
            </a:r>
            <a:r>
              <a:rPr lang="en-US" sz="2400" b="1" dirty="0" err="1">
                <a:ea typeface="+mn-lt"/>
                <a:cs typeface="+mn-lt"/>
              </a:rPr>
              <a:t>quyết</a:t>
            </a:r>
            <a:r>
              <a:rPr lang="en-US" sz="2400" b="1" dirty="0">
                <a:ea typeface="+mn-lt"/>
                <a:cs typeface="+mn-lt"/>
              </a:rPr>
              <a:t> </a:t>
            </a:r>
            <a:r>
              <a:rPr lang="en-US" sz="2400" b="1" dirty="0" err="1">
                <a:ea typeface="+mn-lt"/>
                <a:cs typeface="+mn-lt"/>
              </a:rPr>
              <a:t>nghiệp</a:t>
            </a:r>
            <a:r>
              <a:rPr lang="en-US" sz="2400" b="1" dirty="0">
                <a:ea typeface="+mn-lt"/>
                <a:cs typeface="+mn-lt"/>
              </a:rPr>
              <a:t> </a:t>
            </a:r>
            <a:r>
              <a:rPr lang="en-US" sz="2400" b="1" dirty="0" err="1">
                <a:ea typeface="+mn-lt"/>
                <a:cs typeface="+mn-lt"/>
              </a:rPr>
              <a:t>vụ</a:t>
            </a:r>
            <a:r>
              <a:rPr lang="en-US" sz="2400" b="1" dirty="0">
                <a:ea typeface="+mn-lt"/>
                <a:cs typeface="+mn-lt"/>
              </a:rPr>
              <a:t> </a:t>
            </a:r>
            <a:r>
              <a:rPr lang="en-US" sz="2400" b="1" dirty="0" err="1">
                <a:ea typeface="+mn-lt"/>
                <a:cs typeface="+mn-lt"/>
              </a:rPr>
              <a:t>phức</a:t>
            </a:r>
            <a:r>
              <a:rPr lang="en-US" sz="2400" b="1" dirty="0">
                <a:ea typeface="+mn-lt"/>
                <a:cs typeface="+mn-lt"/>
              </a:rPr>
              <a:t> </a:t>
            </a:r>
            <a:r>
              <a:rPr lang="en-US" sz="2400" b="1" dirty="0" err="1">
                <a:ea typeface="+mn-lt"/>
                <a:cs typeface="+mn-lt"/>
              </a:rPr>
              <a:t>tạp</a:t>
            </a:r>
            <a:r>
              <a:rPr lang="en-US" sz="2400" b="1" dirty="0">
                <a:ea typeface="+mn-lt"/>
                <a:cs typeface="+mn-lt"/>
              </a:rPr>
              <a:t> -</a:t>
            </a:r>
            <a:r>
              <a:rPr lang="en-US" sz="2400" b="1" dirty="0">
                <a:latin typeface="Segoe UI"/>
                <a:ea typeface="+mn-lt"/>
                <a:cs typeface="Segoe UI"/>
              </a:rPr>
              <a:t> </a:t>
            </a:r>
            <a:r>
              <a:rPr lang="en-US" sz="2300" b="1" dirty="0" err="1">
                <a:latin typeface="Segoe UI"/>
                <a:ea typeface="+mn-lt"/>
                <a:cs typeface="Segoe UI"/>
              </a:rPr>
              <a:t>Xây</a:t>
            </a:r>
            <a:r>
              <a:rPr lang="en-US" sz="2300" b="1" dirty="0">
                <a:latin typeface="Segoe UI"/>
                <a:ea typeface="+mn-lt"/>
                <a:cs typeface="Segoe UI"/>
              </a:rPr>
              <a:t> </a:t>
            </a:r>
            <a:r>
              <a:rPr lang="en-US" sz="2300" b="1" dirty="0" err="1">
                <a:latin typeface="Segoe UI"/>
                <a:ea typeface="+mn-lt"/>
                <a:cs typeface="Segoe UI"/>
              </a:rPr>
              <a:t>dựng</a:t>
            </a:r>
            <a:r>
              <a:rPr lang="en-US" sz="2300" b="1" dirty="0">
                <a:latin typeface="Segoe UI"/>
                <a:ea typeface="+mn-lt"/>
                <a:cs typeface="Segoe UI"/>
              </a:rPr>
              <a:t> </a:t>
            </a:r>
            <a:r>
              <a:rPr lang="en-US" sz="2300" b="1" dirty="0" err="1">
                <a:latin typeface="Segoe UI"/>
                <a:ea typeface="+mn-lt"/>
                <a:cs typeface="Segoe UI"/>
              </a:rPr>
              <a:t>hệ</a:t>
            </a:r>
            <a:r>
              <a:rPr lang="en-US" sz="2300" b="1" dirty="0">
                <a:latin typeface="Segoe UI"/>
                <a:ea typeface="+mn-lt"/>
                <a:cs typeface="Segoe UI"/>
              </a:rPr>
              <a:t> </a:t>
            </a:r>
            <a:r>
              <a:rPr lang="en-US" sz="2300" b="1" dirty="0" err="1">
                <a:latin typeface="Segoe UI"/>
                <a:ea typeface="+mn-lt"/>
                <a:cs typeface="Segoe UI"/>
              </a:rPr>
              <a:t>thống</a:t>
            </a:r>
            <a:r>
              <a:rPr lang="en-US" sz="2300" b="1" dirty="0">
                <a:latin typeface="Segoe UI"/>
                <a:ea typeface="+mn-lt"/>
                <a:cs typeface="Segoe UI"/>
              </a:rPr>
              <a:t> &amp; </a:t>
            </a:r>
            <a:r>
              <a:rPr lang="en-US" sz="2300" b="1" dirty="0" err="1">
                <a:latin typeface="Segoe UI"/>
                <a:ea typeface="+mn-lt"/>
                <a:cs typeface="Segoe UI"/>
              </a:rPr>
              <a:t>Thuật</a:t>
            </a:r>
            <a:r>
              <a:rPr lang="en-US" sz="2300" b="1" dirty="0">
                <a:latin typeface="Segoe UI"/>
                <a:ea typeface="+mn-lt"/>
                <a:cs typeface="Segoe UI"/>
              </a:rPr>
              <a:t> </a:t>
            </a:r>
            <a:r>
              <a:rPr lang="en-US" sz="2300" b="1" dirty="0" err="1">
                <a:latin typeface="Segoe UI"/>
                <a:ea typeface="+mn-lt"/>
                <a:cs typeface="Segoe UI"/>
              </a:rPr>
              <a:t>toán</a:t>
            </a:r>
            <a:r>
              <a:rPr lang="en-US" sz="2300" b="1" dirty="0">
                <a:latin typeface="Segoe UI"/>
                <a:ea typeface="+mn-lt"/>
                <a:cs typeface="Segoe UI"/>
              </a:rPr>
              <a:t> FEFO</a:t>
            </a:r>
            <a:endParaRPr lang="vi-VN" sz="2300" b="1">
              <a:latin typeface="Segoe UI"/>
              <a:ea typeface="+mn-lt"/>
              <a:cs typeface="Segoe UI"/>
            </a:endParaRPr>
          </a:p>
          <a:p>
            <a:pPr>
              <a:lnSpc>
                <a:spcPct val="113999"/>
              </a:lnSpc>
              <a:buAutoNum type="romanUcPeriod"/>
            </a:pPr>
            <a:r>
              <a:rPr lang="vi-VN" sz="2400" b="1">
                <a:ea typeface="+mn-lt"/>
                <a:cs typeface="+mn-lt"/>
              </a:rPr>
              <a:t>   Kiểm thử, Triển khai &amp; Kết luận</a:t>
            </a:r>
            <a:endParaRPr lang="vi-VN" sz="2400">
              <a:ea typeface="Source Sans Pro"/>
            </a:endParaRPr>
          </a:p>
        </p:txBody>
      </p:sp>
    </p:spTree>
    <p:extLst>
      <p:ext uri="{BB962C8B-B14F-4D97-AF65-F5344CB8AC3E}">
        <p14:creationId xmlns:p14="http://schemas.microsoft.com/office/powerpoint/2010/main" val="1180614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Hình ảnh 5" descr="Chọn thực phẩm cho bữa ăn lành mạnh">
            <a:extLst>
              <a:ext uri="{FF2B5EF4-FFF2-40B4-BE49-F238E27FC236}">
                <a16:creationId xmlns:a16="http://schemas.microsoft.com/office/drawing/2014/main" id="{3ED421D1-6353-A037-CB6F-513A6B6DB0AD}"/>
              </a:ext>
            </a:extLst>
          </p:cNvPr>
          <p:cNvPicPr>
            <a:picLocks noChangeAspect="1"/>
          </p:cNvPicPr>
          <p:nvPr/>
        </p:nvPicPr>
        <p:blipFill>
          <a:blip r:embed="rId2"/>
          <a:srcRect l="12565" r="8435"/>
          <a:stretch>
            <a:fillRect/>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êu đề 1">
            <a:extLst>
              <a:ext uri="{FF2B5EF4-FFF2-40B4-BE49-F238E27FC236}">
                <a16:creationId xmlns:a16="http://schemas.microsoft.com/office/drawing/2014/main" id="{91E82FFF-0504-4069-F09E-D62EF72D38BC}"/>
              </a:ext>
            </a:extLst>
          </p:cNvPr>
          <p:cNvSpPr>
            <a:spLocks noGrp="1"/>
          </p:cNvSpPr>
          <p:nvPr>
            <p:ph type="title"/>
          </p:nvPr>
        </p:nvSpPr>
        <p:spPr>
          <a:xfrm>
            <a:off x="359889" y="1161288"/>
            <a:ext cx="3841554" cy="1124712"/>
          </a:xfrm>
        </p:spPr>
        <p:txBody>
          <a:bodyPr anchor="b">
            <a:normAutofit/>
          </a:bodyPr>
          <a:lstStyle/>
          <a:p>
            <a:pPr marL="514350" indent="-514350">
              <a:buAutoNum type="romanUcPeriod"/>
            </a:pPr>
            <a:r>
              <a:rPr lang="vi-VN" sz="2800">
                <a:ea typeface="Source Sans Pro"/>
              </a:rPr>
              <a:t>Giới thiệu tổng quan</a:t>
            </a:r>
            <a:endParaRPr lang="vi-VN" sz="2800" dirty="0">
              <a:ea typeface="Source Sans Pro"/>
            </a:endParaRP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hỗ dành sẵn cho Nội dung 2">
            <a:extLst>
              <a:ext uri="{FF2B5EF4-FFF2-40B4-BE49-F238E27FC236}">
                <a16:creationId xmlns:a16="http://schemas.microsoft.com/office/drawing/2014/main" id="{4D774A0A-E7A0-C634-8437-ED5FC52EB15D}"/>
              </a:ext>
            </a:extLst>
          </p:cNvPr>
          <p:cNvSpPr>
            <a:spLocks noGrp="1"/>
          </p:cNvSpPr>
          <p:nvPr>
            <p:ph idx="1"/>
          </p:nvPr>
        </p:nvSpPr>
        <p:spPr>
          <a:xfrm>
            <a:off x="438329" y="2605995"/>
            <a:ext cx="4514671" cy="2983141"/>
          </a:xfrm>
        </p:spPr>
        <p:txBody>
          <a:bodyPr lIns="109728" tIns="109728" rIns="109728" bIns="91440" anchor="t">
            <a:normAutofit/>
          </a:bodyPr>
          <a:lstStyle/>
          <a:p>
            <a:pPr marL="0" indent="0">
              <a:buNone/>
            </a:pPr>
            <a:r>
              <a:rPr lang="vi-VN">
                <a:ea typeface="Source Sans Pro"/>
              </a:rPr>
              <a:t>Thực trạng:</a:t>
            </a:r>
            <a:endParaRPr lang="vi-VN" dirty="0">
              <a:ea typeface="Source Sans Pro"/>
            </a:endParaRPr>
          </a:p>
          <a:p>
            <a:pPr marL="0" indent="0">
              <a:lnSpc>
                <a:spcPct val="113999"/>
              </a:lnSpc>
              <a:buNone/>
            </a:pPr>
            <a:r>
              <a:rPr lang="vi-VN" sz="2000">
                <a:ea typeface="Source Sans Pro"/>
              </a:rPr>
              <a:t> </a:t>
            </a:r>
            <a:r>
              <a:rPr lang="en" sz="2000">
                <a:ea typeface="+mn-lt"/>
                <a:cs typeface="+mn-lt"/>
              </a:rPr>
              <a:t>Ngành thực phẩm sạch (rau củ hữu cơ, thịt cá tươi sống) đối mặt với bài toán lớn về hao hụt. Các sản phẩm này có thời hạn sử dụng rất ngắn, chỉ từ 2 đến 7 ngày, đòi hỏi hệ thống quản lý kho phải cực kỳ chính xác và kịp thời.</a:t>
            </a:r>
            <a:endParaRPr lang="vi-VN" sz="2000">
              <a:ea typeface="Source Sans Pro"/>
            </a:endParaRPr>
          </a:p>
          <a:p>
            <a:pPr marL="0" indent="0">
              <a:buNone/>
            </a:pPr>
            <a:endParaRPr lang="vi-VN" sz="2000" dirty="0">
              <a:ea typeface="Source Sans Pro"/>
            </a:endParaRPr>
          </a:p>
        </p:txBody>
      </p:sp>
      <p:sp>
        <p:nvSpPr>
          <p:cNvPr id="7" name="Hộp Văn bản 6">
            <a:extLst>
              <a:ext uri="{FF2B5EF4-FFF2-40B4-BE49-F238E27FC236}">
                <a16:creationId xmlns:a16="http://schemas.microsoft.com/office/drawing/2014/main" id="{07475D2F-F3EC-934C-7F8C-23A78D9772F5}"/>
              </a:ext>
            </a:extLst>
          </p:cNvPr>
          <p:cNvSpPr txBox="1"/>
          <p:nvPr/>
        </p:nvSpPr>
        <p:spPr>
          <a:xfrm>
            <a:off x="433590" y="5591749"/>
            <a:ext cx="463699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vi-VN" b="1"/>
              <a:t>Thông điệp then chốt:</a:t>
            </a:r>
            <a:r>
              <a:rPr lang="vi-VN"/>
              <a:t> </a:t>
            </a:r>
            <a:r>
              <a:rPr lang="vi-VN" i="1"/>
              <a:t>"Quản lý thủ công không thể đáp ứng tốc độ biến động của hạn sử dụng thực phẩm sạch"</a:t>
            </a:r>
            <a:endParaRPr lang="vi-VN"/>
          </a:p>
        </p:txBody>
      </p:sp>
    </p:spTree>
    <p:extLst>
      <p:ext uri="{BB962C8B-B14F-4D97-AF65-F5344CB8AC3E}">
        <p14:creationId xmlns:p14="http://schemas.microsoft.com/office/powerpoint/2010/main" val="3641999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E531C31-DF4D-1957-440B-C7CDAAF2BBF3}"/>
              </a:ext>
            </a:extLst>
          </p:cNvPr>
          <p:cNvSpPr>
            <a:spLocks noGrp="1"/>
          </p:cNvSpPr>
          <p:nvPr>
            <p:ph type="title"/>
          </p:nvPr>
        </p:nvSpPr>
        <p:spPr/>
        <p:txBody>
          <a:bodyPr/>
          <a:lstStyle/>
          <a:p>
            <a:pPr marL="742950" indent="-742950">
              <a:buAutoNum type="romanUcPeriod"/>
            </a:pPr>
            <a:r>
              <a:rPr lang="vi-VN">
                <a:ea typeface="Source Sans Pro"/>
              </a:rPr>
              <a:t>Giới thiệu tổng quan</a:t>
            </a:r>
            <a:endParaRPr lang="vi-VN" dirty="0">
              <a:ea typeface="Source Sans Pro"/>
            </a:endParaRPr>
          </a:p>
        </p:txBody>
      </p:sp>
      <p:sp>
        <p:nvSpPr>
          <p:cNvPr id="5" name="Hộp Văn bản 4">
            <a:extLst>
              <a:ext uri="{FF2B5EF4-FFF2-40B4-BE49-F238E27FC236}">
                <a16:creationId xmlns:a16="http://schemas.microsoft.com/office/drawing/2014/main" id="{45DC7D19-5C6A-76ED-3117-942C43AD3DFC}"/>
              </a:ext>
            </a:extLst>
          </p:cNvPr>
          <p:cNvSpPr txBox="1"/>
          <p:nvPr/>
        </p:nvSpPr>
        <p:spPr>
          <a:xfrm>
            <a:off x="1114199" y="235202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vi-VN"/>
          </a:p>
        </p:txBody>
      </p:sp>
      <p:sp>
        <p:nvSpPr>
          <p:cNvPr id="6" name="Hộp Văn bản 5">
            <a:extLst>
              <a:ext uri="{FF2B5EF4-FFF2-40B4-BE49-F238E27FC236}">
                <a16:creationId xmlns:a16="http://schemas.microsoft.com/office/drawing/2014/main" id="{B0968B3C-0926-E1B1-616D-C196174E93FD}"/>
              </a:ext>
            </a:extLst>
          </p:cNvPr>
          <p:cNvSpPr txBox="1"/>
          <p:nvPr/>
        </p:nvSpPr>
        <p:spPr>
          <a:xfrm>
            <a:off x="1114483" y="2085981"/>
            <a:ext cx="291128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sz="2800">
                <a:ea typeface="Source Sans Pro"/>
              </a:rPr>
              <a:t>Vấn đền hiện tại</a:t>
            </a:r>
          </a:p>
        </p:txBody>
      </p:sp>
      <mc:AlternateContent xmlns:mc="http://schemas.openxmlformats.org/markup-compatibility/2006" xmlns:p14="http://schemas.microsoft.com/office/powerpoint/2010/main">
        <mc:Choice Requires="p14">
          <p:contentPart p14:bwMode="auto" r:id="rId2">
            <p14:nvContentPartPr>
              <p14:cNvPr id="9" name="Viết tay 8">
                <a:extLst>
                  <a:ext uri="{FF2B5EF4-FFF2-40B4-BE49-F238E27FC236}">
                    <a16:creationId xmlns:a16="http://schemas.microsoft.com/office/drawing/2014/main" id="{D3320ACF-7E9A-79B6-C8EB-A514F8666D67}"/>
                  </a:ext>
                </a:extLst>
              </p14:cNvPr>
              <p14:cNvContentPartPr/>
              <p14:nvPr/>
            </p14:nvContentPartPr>
            <p14:xfrm>
              <a:off x="5793441" y="3095625"/>
              <a:ext cx="68301" cy="739676"/>
            </p14:xfrm>
          </p:contentPart>
        </mc:Choice>
        <mc:Fallback xmlns="">
          <p:pic>
            <p:nvPicPr>
              <p:cNvPr id="9" name="Viết tay 8">
                <a:extLst>
                  <a:ext uri="{FF2B5EF4-FFF2-40B4-BE49-F238E27FC236}">
                    <a16:creationId xmlns:a16="http://schemas.microsoft.com/office/drawing/2014/main" id="{D3320ACF-7E9A-79B6-C8EB-A514F8666D67}"/>
                  </a:ext>
                </a:extLst>
              </p:cNvPr>
              <p:cNvPicPr/>
              <p:nvPr/>
            </p:nvPicPr>
            <p:blipFill>
              <a:blip r:embed="rId3"/>
              <a:stretch>
                <a:fillRect/>
              </a:stretch>
            </p:blipFill>
            <p:spPr>
              <a:xfrm>
                <a:off x="5775919" y="3077637"/>
                <a:ext cx="103703" cy="775293"/>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Viết tay 9">
                <a:extLst>
                  <a:ext uri="{FF2B5EF4-FFF2-40B4-BE49-F238E27FC236}">
                    <a16:creationId xmlns:a16="http://schemas.microsoft.com/office/drawing/2014/main" id="{CB1E65CB-3BB3-320A-5A9C-E5F3A0BBA699}"/>
                  </a:ext>
                </a:extLst>
              </p14:cNvPr>
              <p14:cNvContentPartPr/>
              <p14:nvPr/>
            </p14:nvContentPartPr>
            <p14:xfrm>
              <a:off x="5910173" y="3308537"/>
              <a:ext cx="40638" cy="705038"/>
            </p14:xfrm>
          </p:contentPart>
        </mc:Choice>
        <mc:Fallback xmlns="">
          <p:pic>
            <p:nvPicPr>
              <p:cNvPr id="10" name="Viết tay 9">
                <a:extLst>
                  <a:ext uri="{FF2B5EF4-FFF2-40B4-BE49-F238E27FC236}">
                    <a16:creationId xmlns:a16="http://schemas.microsoft.com/office/drawing/2014/main" id="{CB1E65CB-3BB3-320A-5A9C-E5F3A0BBA699}"/>
                  </a:ext>
                </a:extLst>
              </p:cNvPr>
              <p:cNvPicPr/>
              <p:nvPr/>
            </p:nvPicPr>
            <p:blipFill>
              <a:blip r:embed="rId5"/>
              <a:stretch>
                <a:fillRect/>
              </a:stretch>
            </p:blipFill>
            <p:spPr>
              <a:xfrm>
                <a:off x="5892349" y="3290542"/>
                <a:ext cx="75929" cy="740668"/>
              </a:xfrm>
              <a:prstGeom prst="rect">
                <a:avLst/>
              </a:prstGeom>
            </p:spPr>
          </p:pic>
        </mc:Fallback>
      </mc:AlternateContent>
      <p:cxnSp>
        <p:nvCxnSpPr>
          <p:cNvPr id="18" name="Đường kết nối Mũi tên Thẳng 17">
            <a:extLst>
              <a:ext uri="{FF2B5EF4-FFF2-40B4-BE49-F238E27FC236}">
                <a16:creationId xmlns:a16="http://schemas.microsoft.com/office/drawing/2014/main" id="{CB98F137-681B-3038-C6AA-6718B9E58BC8}"/>
              </a:ext>
            </a:extLst>
          </p:cNvPr>
          <p:cNvCxnSpPr/>
          <p:nvPr/>
        </p:nvCxnSpPr>
        <p:spPr>
          <a:xfrm flipH="1">
            <a:off x="5790507" y="2358372"/>
            <a:ext cx="26608" cy="4106877"/>
          </a:xfrm>
          <a:prstGeom prst="straightConnector1">
            <a:avLst/>
          </a:prstGeom>
          <a:ln/>
        </p:spPr>
        <p:style>
          <a:lnRef idx="3">
            <a:schemeClr val="dk1"/>
          </a:lnRef>
          <a:fillRef idx="0">
            <a:schemeClr val="dk1"/>
          </a:fillRef>
          <a:effectRef idx="2">
            <a:schemeClr val="dk1"/>
          </a:effectRef>
          <a:fontRef idx="minor">
            <a:schemeClr val="tx1"/>
          </a:fontRef>
        </p:style>
      </p:cxnSp>
      <p:sp>
        <p:nvSpPr>
          <p:cNvPr id="19" name="Hộp Văn bản 18">
            <a:extLst>
              <a:ext uri="{FF2B5EF4-FFF2-40B4-BE49-F238E27FC236}">
                <a16:creationId xmlns:a16="http://schemas.microsoft.com/office/drawing/2014/main" id="{DACAA2B9-0945-6D15-54AD-8800BB375A31}"/>
              </a:ext>
            </a:extLst>
          </p:cNvPr>
          <p:cNvSpPr txBox="1"/>
          <p:nvPr/>
        </p:nvSpPr>
        <p:spPr>
          <a:xfrm>
            <a:off x="533956" y="2656682"/>
            <a:ext cx="4961962" cy="8771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sz="1700">
                <a:ea typeface="+mn-lt"/>
                <a:cs typeface="+mn-lt"/>
              </a:rPr>
              <a:t>Ngành thực phẩm sạch có vòng đời siêu ngắn (2-7 ngày), nhưng cửa hàng đang quản lý bằng sổ sách/Excel rời rạc dẫn đến:</a:t>
            </a:r>
            <a:endParaRPr lang="vi-VN" sz="1700">
              <a:ea typeface="Source Sans Pro"/>
            </a:endParaRPr>
          </a:p>
        </p:txBody>
      </p:sp>
      <p:sp>
        <p:nvSpPr>
          <p:cNvPr id="20" name="Hộp Văn bản 19">
            <a:extLst>
              <a:ext uri="{FF2B5EF4-FFF2-40B4-BE49-F238E27FC236}">
                <a16:creationId xmlns:a16="http://schemas.microsoft.com/office/drawing/2014/main" id="{89C8CD6E-E593-3258-7E31-F62AB5B34A29}"/>
              </a:ext>
            </a:extLst>
          </p:cNvPr>
          <p:cNvSpPr txBox="1"/>
          <p:nvPr/>
        </p:nvSpPr>
        <p:spPr>
          <a:xfrm>
            <a:off x="448234" y="3664324"/>
            <a:ext cx="5121090" cy="35086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200" dirty="0"/>
              <a:t>🗑️</a:t>
            </a:r>
            <a:r>
              <a:rPr lang="en-US" sz="2000" dirty="0"/>
              <a:t> </a:t>
            </a:r>
            <a:r>
              <a:rPr lang="en-US" sz="1700" b="1" dirty="0"/>
              <a:t>Hao </a:t>
            </a:r>
            <a:r>
              <a:rPr lang="en-US" sz="1700" b="1" dirty="0" err="1"/>
              <a:t>hụt</a:t>
            </a:r>
            <a:r>
              <a:rPr lang="en-US" sz="1700" b="1" dirty="0"/>
              <a:t> </a:t>
            </a:r>
            <a:r>
              <a:rPr lang="en-US" sz="1700" b="1" dirty="0" err="1"/>
              <a:t>khổng</a:t>
            </a:r>
            <a:r>
              <a:rPr lang="en-US" sz="1700" b="1" dirty="0"/>
              <a:t> </a:t>
            </a:r>
            <a:r>
              <a:rPr lang="en-US" sz="1700" b="1" dirty="0" err="1"/>
              <a:t>lồ</a:t>
            </a:r>
            <a:r>
              <a:rPr lang="en-US" sz="1700" b="1" dirty="0"/>
              <a:t>:</a:t>
            </a:r>
            <a:r>
              <a:rPr lang="en-US" sz="1700" dirty="0"/>
              <a:t> </a:t>
            </a:r>
            <a:r>
              <a:rPr lang="en-US" sz="1700" dirty="0" err="1"/>
              <a:t>Rác</a:t>
            </a:r>
            <a:r>
              <a:rPr lang="en-US" sz="1700" dirty="0"/>
              <a:t> </a:t>
            </a:r>
            <a:r>
              <a:rPr lang="en-US" sz="1700" dirty="0" err="1"/>
              <a:t>thải</a:t>
            </a:r>
            <a:r>
              <a:rPr lang="en-US" sz="1700" dirty="0"/>
              <a:t> </a:t>
            </a:r>
            <a:r>
              <a:rPr lang="en-US" sz="1700" dirty="0" err="1"/>
              <a:t>thực</a:t>
            </a:r>
            <a:r>
              <a:rPr lang="en-US" sz="1700" dirty="0"/>
              <a:t> </a:t>
            </a:r>
            <a:r>
              <a:rPr lang="en-US" sz="1700" dirty="0" err="1"/>
              <a:t>phẩm</a:t>
            </a:r>
            <a:r>
              <a:rPr lang="en-US" sz="1700" dirty="0"/>
              <a:t> </a:t>
            </a:r>
            <a:r>
              <a:rPr lang="en-US" sz="1700" dirty="0" err="1"/>
              <a:t>chiếm</a:t>
            </a:r>
            <a:r>
              <a:rPr lang="en-US" sz="1700" dirty="0"/>
              <a:t> </a:t>
            </a:r>
            <a:r>
              <a:rPr lang="en-US" sz="1700" dirty="0" err="1"/>
              <a:t>tới</a:t>
            </a:r>
            <a:r>
              <a:rPr lang="en-US" sz="1700" dirty="0"/>
              <a:t> 15% </a:t>
            </a:r>
            <a:r>
              <a:rPr lang="en-US" sz="1700" dirty="0" err="1"/>
              <a:t>doanh</a:t>
            </a:r>
            <a:r>
              <a:rPr lang="en-US" sz="1700" dirty="0"/>
              <a:t> </a:t>
            </a:r>
            <a:r>
              <a:rPr lang="en-US" sz="1700" dirty="0" err="1"/>
              <a:t>thu</a:t>
            </a:r>
            <a:r>
              <a:rPr lang="en-US" sz="1700" dirty="0"/>
              <a:t> </a:t>
            </a:r>
            <a:r>
              <a:rPr lang="en-US" sz="1700" dirty="0" err="1"/>
              <a:t>hàng</a:t>
            </a:r>
            <a:r>
              <a:rPr lang="en-US" sz="1700" dirty="0"/>
              <a:t> </a:t>
            </a:r>
            <a:r>
              <a:rPr lang="en-US" sz="1700" dirty="0" err="1"/>
              <a:t>tháng</a:t>
            </a:r>
            <a:r>
              <a:rPr lang="en-US" sz="1700" dirty="0"/>
              <a:t> do </a:t>
            </a:r>
            <a:r>
              <a:rPr lang="en-US" sz="1700" dirty="0" err="1"/>
              <a:t>vứt</a:t>
            </a:r>
            <a:r>
              <a:rPr lang="en-US" sz="1700" dirty="0"/>
              <a:t> </a:t>
            </a:r>
            <a:r>
              <a:rPr lang="en-US" sz="1700" dirty="0" err="1"/>
              <a:t>bỏ</a:t>
            </a:r>
            <a:r>
              <a:rPr lang="en-US" sz="1700" dirty="0"/>
              <a:t> </a:t>
            </a:r>
            <a:r>
              <a:rPr lang="en-US" sz="1700" dirty="0" err="1"/>
              <a:t>hàng</a:t>
            </a:r>
            <a:r>
              <a:rPr lang="en-US" sz="1700" dirty="0"/>
              <a:t> </a:t>
            </a:r>
            <a:r>
              <a:rPr lang="en-US" sz="1700" dirty="0" err="1"/>
              <a:t>quá</a:t>
            </a:r>
            <a:r>
              <a:rPr lang="en-US" sz="1700" dirty="0"/>
              <a:t> date.</a:t>
            </a:r>
            <a:endParaRPr lang="en-US" sz="1700" dirty="0">
              <a:ea typeface="Source Sans Pro"/>
            </a:endParaRPr>
          </a:p>
          <a:p>
            <a:pPr marL="228600" indent="-228600">
              <a:buFont typeface=""/>
              <a:buChar char="•"/>
            </a:pPr>
            <a:endParaRPr lang="en-US" sz="1700" dirty="0"/>
          </a:p>
          <a:p>
            <a:pPr marL="228600" indent="-228600">
              <a:buFont typeface=""/>
              <a:buChar char="•"/>
            </a:pPr>
            <a:r>
              <a:rPr lang="en-US" sz="2200" dirty="0"/>
              <a:t>❌ </a:t>
            </a:r>
            <a:r>
              <a:rPr lang="en-US" sz="1700" b="1" dirty="0"/>
              <a:t>Sai </a:t>
            </a:r>
            <a:r>
              <a:rPr lang="en-US" sz="1700" b="1" dirty="0" err="1"/>
              <a:t>lệch</a:t>
            </a:r>
            <a:r>
              <a:rPr lang="en-US" sz="1700" b="1" dirty="0"/>
              <a:t> </a:t>
            </a:r>
            <a:r>
              <a:rPr lang="en-US" sz="1700" b="1" dirty="0" err="1"/>
              <a:t>tồn</a:t>
            </a:r>
            <a:r>
              <a:rPr lang="en-US" sz="1700" b="1" dirty="0"/>
              <a:t> </a:t>
            </a:r>
            <a:r>
              <a:rPr lang="en-US" sz="1700" b="1" dirty="0" err="1"/>
              <a:t>kho</a:t>
            </a:r>
            <a:r>
              <a:rPr lang="en-US" sz="1700" b="1" dirty="0"/>
              <a:t> </a:t>
            </a:r>
            <a:r>
              <a:rPr lang="en-US" sz="1700" b="1" dirty="0" err="1"/>
              <a:t>theo</a:t>
            </a:r>
            <a:r>
              <a:rPr lang="en-US" sz="1700" b="1" dirty="0"/>
              <a:t> </a:t>
            </a:r>
            <a:r>
              <a:rPr lang="en-US" sz="1700" b="1" dirty="0" err="1"/>
              <a:t>lô</a:t>
            </a:r>
            <a:r>
              <a:rPr lang="en-US" sz="1700" b="1" dirty="0"/>
              <a:t>:</a:t>
            </a:r>
            <a:r>
              <a:rPr lang="en-US" sz="1700" dirty="0"/>
              <a:t> </a:t>
            </a:r>
            <a:r>
              <a:rPr lang="en-US" sz="1700" dirty="0" err="1"/>
              <a:t>Không</a:t>
            </a:r>
            <a:r>
              <a:rPr lang="en-US" sz="1700" dirty="0"/>
              <a:t> </a:t>
            </a:r>
            <a:r>
              <a:rPr lang="en-US" sz="1700" dirty="0" err="1"/>
              <a:t>theo</a:t>
            </a:r>
            <a:r>
              <a:rPr lang="en-US" sz="1700" dirty="0"/>
              <a:t> </a:t>
            </a:r>
            <a:r>
              <a:rPr lang="en-US" sz="1700" dirty="0" err="1"/>
              <a:t>dõi</a:t>
            </a:r>
            <a:r>
              <a:rPr lang="en-US" sz="1700" dirty="0"/>
              <a:t> </a:t>
            </a:r>
            <a:r>
              <a:rPr lang="en-US" sz="1700" dirty="0" err="1"/>
              <a:t>được</a:t>
            </a:r>
            <a:r>
              <a:rPr lang="en-US" sz="1700" dirty="0"/>
              <a:t> HSD </a:t>
            </a:r>
            <a:r>
              <a:rPr lang="en-US" sz="1700" dirty="0" err="1"/>
              <a:t>của</a:t>
            </a:r>
            <a:r>
              <a:rPr lang="en-US" sz="1700" dirty="0"/>
              <a:t> </a:t>
            </a:r>
            <a:r>
              <a:rPr lang="en-US" sz="1700" dirty="0" err="1"/>
              <a:t>từng</a:t>
            </a:r>
            <a:r>
              <a:rPr lang="en-US" sz="1700" dirty="0"/>
              <a:t> </a:t>
            </a:r>
            <a:r>
              <a:rPr lang="en-US" sz="1700" dirty="0" err="1"/>
              <a:t>lô</a:t>
            </a:r>
            <a:r>
              <a:rPr lang="en-US" sz="1700" dirty="0"/>
              <a:t> </a:t>
            </a:r>
            <a:r>
              <a:rPr lang="en-US" sz="1700" dirty="0" err="1"/>
              <a:t>hàng</a:t>
            </a:r>
            <a:r>
              <a:rPr lang="en-US" sz="1700" dirty="0"/>
              <a:t>, </a:t>
            </a:r>
            <a:r>
              <a:rPr lang="en-US" sz="1700" dirty="0" err="1"/>
              <a:t>không</a:t>
            </a:r>
            <a:r>
              <a:rPr lang="en-US" sz="1700" dirty="0"/>
              <a:t> </a:t>
            </a:r>
            <a:r>
              <a:rPr lang="en-US" sz="1700" dirty="0" err="1"/>
              <a:t>biết</a:t>
            </a:r>
            <a:r>
              <a:rPr lang="en-US" sz="1700" dirty="0"/>
              <a:t> </a:t>
            </a:r>
            <a:r>
              <a:rPr lang="en-US" sz="1700" dirty="0" err="1"/>
              <a:t>hàng</a:t>
            </a:r>
            <a:r>
              <a:rPr lang="en-US" sz="1700" dirty="0"/>
              <a:t> </a:t>
            </a:r>
            <a:r>
              <a:rPr lang="en-US" sz="1700" dirty="0" err="1"/>
              <a:t>nào</a:t>
            </a:r>
            <a:r>
              <a:rPr lang="en-US" sz="1700" dirty="0"/>
              <a:t> </a:t>
            </a:r>
            <a:r>
              <a:rPr lang="en-US" sz="1700" dirty="0" err="1"/>
              <a:t>sắp</a:t>
            </a:r>
            <a:r>
              <a:rPr lang="en-US" sz="1700" dirty="0"/>
              <a:t> </a:t>
            </a:r>
            <a:r>
              <a:rPr lang="en-US" sz="1700" dirty="0" err="1"/>
              <a:t>hỏng</a:t>
            </a:r>
            <a:r>
              <a:rPr lang="en-US" sz="1700" dirty="0"/>
              <a:t>.</a:t>
            </a:r>
            <a:endParaRPr lang="en-US" sz="1700" dirty="0">
              <a:ea typeface="Source Sans Pro"/>
            </a:endParaRPr>
          </a:p>
          <a:p>
            <a:pPr marL="228600" indent="-228600">
              <a:buFont typeface=""/>
              <a:buChar char="•"/>
            </a:pPr>
            <a:endParaRPr lang="en-US" sz="1700" dirty="0"/>
          </a:p>
          <a:p>
            <a:pPr marL="228600" indent="-228600">
              <a:buFont typeface=""/>
              <a:buChar char="•"/>
            </a:pPr>
            <a:r>
              <a:rPr lang="en-US" sz="2200" dirty="0"/>
              <a:t>🔄 </a:t>
            </a:r>
            <a:r>
              <a:rPr lang="en-US" sz="1700" b="1" dirty="0" err="1"/>
              <a:t>Phá</a:t>
            </a:r>
            <a:r>
              <a:rPr lang="en-US" sz="1700" b="1" dirty="0"/>
              <a:t> </a:t>
            </a:r>
            <a:r>
              <a:rPr lang="en-US" sz="1700" b="1" dirty="0" err="1"/>
              <a:t>vỡ</a:t>
            </a:r>
            <a:r>
              <a:rPr lang="en-US" sz="1700" b="1" dirty="0"/>
              <a:t> </a:t>
            </a:r>
            <a:r>
              <a:rPr lang="en-US" sz="1700" b="1" dirty="0" err="1"/>
              <a:t>quy</a:t>
            </a:r>
            <a:r>
              <a:rPr lang="en-US" sz="1700" b="1" dirty="0"/>
              <a:t> </a:t>
            </a:r>
            <a:r>
              <a:rPr lang="en-US" sz="1700" b="1" dirty="0" err="1"/>
              <a:t>tắc</a:t>
            </a:r>
            <a:r>
              <a:rPr lang="en-US" sz="1700" b="1" dirty="0"/>
              <a:t> FIFO:</a:t>
            </a:r>
            <a:r>
              <a:rPr lang="en-US" sz="1700" dirty="0"/>
              <a:t> </a:t>
            </a:r>
            <a:r>
              <a:rPr lang="en-US" sz="1700" dirty="0" err="1"/>
              <a:t>Nhân</a:t>
            </a:r>
            <a:r>
              <a:rPr lang="en-US" sz="1700" dirty="0"/>
              <a:t> </a:t>
            </a:r>
            <a:r>
              <a:rPr lang="en-US" sz="1700" dirty="0" err="1"/>
              <a:t>viên</a:t>
            </a:r>
            <a:r>
              <a:rPr lang="en-US" sz="1700" dirty="0"/>
              <a:t> </a:t>
            </a:r>
            <a:r>
              <a:rPr lang="en-US" sz="1700" dirty="0" err="1"/>
              <a:t>có</a:t>
            </a:r>
            <a:r>
              <a:rPr lang="en-US" sz="1700" dirty="0"/>
              <a:t> </a:t>
            </a:r>
            <a:r>
              <a:rPr lang="en-US" sz="1700" dirty="0" err="1"/>
              <a:t>thói</a:t>
            </a:r>
            <a:r>
              <a:rPr lang="en-US" sz="1700" dirty="0"/>
              <a:t> </a:t>
            </a:r>
            <a:r>
              <a:rPr lang="en-US" sz="1700" dirty="0" err="1"/>
              <a:t>quen</a:t>
            </a:r>
            <a:r>
              <a:rPr lang="en-US" sz="1700" dirty="0"/>
              <a:t> </a:t>
            </a:r>
            <a:r>
              <a:rPr lang="en-US" sz="1700" dirty="0" err="1"/>
              <a:t>lấy</a:t>
            </a:r>
            <a:r>
              <a:rPr lang="en-US" sz="1700" dirty="0"/>
              <a:t> </a:t>
            </a:r>
            <a:r>
              <a:rPr lang="en-US" sz="1700" dirty="0" err="1"/>
              <a:t>nhầm</a:t>
            </a:r>
            <a:r>
              <a:rPr lang="en-US" sz="1700" dirty="0"/>
              <a:t> </a:t>
            </a:r>
            <a:r>
              <a:rPr lang="en-US" sz="1700" dirty="0" err="1"/>
              <a:t>hàng</a:t>
            </a:r>
            <a:r>
              <a:rPr lang="en-US" sz="1700" dirty="0"/>
              <a:t> </a:t>
            </a:r>
            <a:r>
              <a:rPr lang="en-US" sz="1700" dirty="0" err="1"/>
              <a:t>mới</a:t>
            </a:r>
            <a:r>
              <a:rPr lang="en-US" sz="1700" dirty="0"/>
              <a:t> </a:t>
            </a:r>
            <a:r>
              <a:rPr lang="en-US" sz="1700" dirty="0" err="1"/>
              <a:t>nhập</a:t>
            </a:r>
            <a:r>
              <a:rPr lang="en-US" sz="1700" dirty="0"/>
              <a:t> </a:t>
            </a:r>
            <a:r>
              <a:rPr lang="en-US" sz="1700" dirty="0" err="1"/>
              <a:t>đặt</a:t>
            </a:r>
            <a:r>
              <a:rPr lang="en-US" sz="1700" dirty="0"/>
              <a:t> </a:t>
            </a:r>
            <a:r>
              <a:rPr lang="en-US" sz="1700" dirty="0" err="1"/>
              <a:t>bên</a:t>
            </a:r>
            <a:r>
              <a:rPr lang="en-US" sz="1700" dirty="0"/>
              <a:t> </a:t>
            </a:r>
            <a:r>
              <a:rPr lang="en-US" sz="1700" dirty="0" err="1"/>
              <a:t>ngoài</a:t>
            </a:r>
            <a:r>
              <a:rPr lang="en-US" sz="1700" dirty="0"/>
              <a:t> </a:t>
            </a:r>
            <a:r>
              <a:rPr lang="en-US" sz="1700" dirty="0" err="1"/>
              <a:t>để</a:t>
            </a:r>
            <a:r>
              <a:rPr lang="en-US" sz="1700" dirty="0"/>
              <a:t> </a:t>
            </a:r>
            <a:r>
              <a:rPr lang="en-US" sz="1700" dirty="0" err="1"/>
              <a:t>bán</a:t>
            </a:r>
            <a:r>
              <a:rPr lang="en-US" sz="1700" dirty="0"/>
              <a:t> </a:t>
            </a:r>
            <a:r>
              <a:rPr lang="en-US" sz="1700" dirty="0" err="1"/>
              <a:t>trước</a:t>
            </a:r>
            <a:r>
              <a:rPr lang="en-US" sz="1700" dirty="0"/>
              <a:t>.</a:t>
            </a:r>
            <a:endParaRPr lang="en-US" sz="1700" dirty="0">
              <a:ea typeface="Source Sans Pro"/>
            </a:endParaRPr>
          </a:p>
          <a:p>
            <a:pPr algn="ctr"/>
            <a:endParaRPr lang="vi-VN"/>
          </a:p>
        </p:txBody>
      </p:sp>
      <p:sp>
        <p:nvSpPr>
          <p:cNvPr id="22" name="Hộp Văn bản 21">
            <a:extLst>
              <a:ext uri="{FF2B5EF4-FFF2-40B4-BE49-F238E27FC236}">
                <a16:creationId xmlns:a16="http://schemas.microsoft.com/office/drawing/2014/main" id="{FF506A52-1C43-A2E0-CF96-EC36617F60E1}"/>
              </a:ext>
            </a:extLst>
          </p:cNvPr>
          <p:cNvSpPr txBox="1"/>
          <p:nvPr/>
        </p:nvSpPr>
        <p:spPr>
          <a:xfrm>
            <a:off x="7371965" y="2105264"/>
            <a:ext cx="309058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sz="2800">
                <a:ea typeface="Source Sans Pro"/>
              </a:rPr>
              <a:t>Giải pháp và lợi ích </a:t>
            </a:r>
          </a:p>
        </p:txBody>
      </p:sp>
      <p:pic>
        <p:nvPicPr>
          <p:cNvPr id="23" name="Hình ảnh 22" descr="Hình ảnh Phần Mềm Quản Lý Hàng Tồn Kho Có Biểu Tượng 3d được Phân Lập Trên  Nền Trong Suốt Cho Các Doanh Nghiệp PNG , Hàng Tồn Kho, Sự Quản Lý,">
            <a:extLst>
              <a:ext uri="{FF2B5EF4-FFF2-40B4-BE49-F238E27FC236}">
                <a16:creationId xmlns:a16="http://schemas.microsoft.com/office/drawing/2014/main" id="{A32461C9-88FF-0B52-1078-327C99D69069}"/>
              </a:ext>
            </a:extLst>
          </p:cNvPr>
          <p:cNvPicPr>
            <a:picLocks noChangeAspect="1"/>
          </p:cNvPicPr>
          <p:nvPr/>
        </p:nvPicPr>
        <p:blipFill>
          <a:blip r:embed="rId6"/>
          <a:stretch>
            <a:fillRect/>
          </a:stretch>
        </p:blipFill>
        <p:spPr>
          <a:xfrm>
            <a:off x="8174692" y="2538128"/>
            <a:ext cx="1467974" cy="1221444"/>
          </a:xfrm>
          <a:prstGeom prst="rect">
            <a:avLst/>
          </a:prstGeom>
        </p:spPr>
      </p:pic>
      <p:sp>
        <p:nvSpPr>
          <p:cNvPr id="24" name="Hình chữ nhật 23">
            <a:extLst>
              <a:ext uri="{FF2B5EF4-FFF2-40B4-BE49-F238E27FC236}">
                <a16:creationId xmlns:a16="http://schemas.microsoft.com/office/drawing/2014/main" id="{920AD710-15AC-201F-3D3D-15A0AB9B6D97}"/>
              </a:ext>
            </a:extLst>
          </p:cNvPr>
          <p:cNvSpPr/>
          <p:nvPr/>
        </p:nvSpPr>
        <p:spPr>
          <a:xfrm>
            <a:off x="7366246" y="3701368"/>
            <a:ext cx="3088341" cy="712693"/>
          </a:xfrm>
          <a:prstGeom prst="rect">
            <a:avLst/>
          </a:prstGeom>
          <a:solidFill>
            <a:schemeClr val="bg1"/>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600" b="1">
                <a:solidFill>
                  <a:srgbClr val="002060"/>
                </a:solidFill>
                <a:ea typeface="+mn-lt"/>
                <a:cs typeface="+mn-lt"/>
              </a:rPr>
              <a:t>Hệ thống FreshCare:</a:t>
            </a:r>
          </a:p>
          <a:p>
            <a:pPr algn="ctr"/>
            <a:r>
              <a:rPr lang="vi-VN" sz="1600">
                <a:solidFill>
                  <a:schemeClr val="tx1">
                    <a:lumMod val="95000"/>
                    <a:lumOff val="5000"/>
                  </a:schemeClr>
                </a:solidFill>
                <a:ea typeface="+mn-lt"/>
                <a:cs typeface="+mn-lt"/>
              </a:rPr>
              <a:t> Quản lý theo lô - Tự động hóa - Tối ưu lợi nhuận</a:t>
            </a:r>
            <a:endParaRPr lang="vi-VN" sz="1600">
              <a:solidFill>
                <a:schemeClr val="tx1">
                  <a:lumMod val="95000"/>
                  <a:lumOff val="5000"/>
                </a:schemeClr>
              </a:solidFill>
              <a:ea typeface="Source Sans Pro"/>
            </a:endParaRPr>
          </a:p>
        </p:txBody>
      </p:sp>
      <p:sp>
        <p:nvSpPr>
          <p:cNvPr id="25" name="Hộp Văn bản 24">
            <a:extLst>
              <a:ext uri="{FF2B5EF4-FFF2-40B4-BE49-F238E27FC236}">
                <a16:creationId xmlns:a16="http://schemas.microsoft.com/office/drawing/2014/main" id="{88259C1B-FA2A-EE4D-B171-EAA3074AC3D0}"/>
              </a:ext>
            </a:extLst>
          </p:cNvPr>
          <p:cNvSpPr txBox="1"/>
          <p:nvPr/>
        </p:nvSpPr>
        <p:spPr>
          <a:xfrm>
            <a:off x="6196853" y="4482355"/>
            <a:ext cx="5546913" cy="26930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200" dirty="0"/>
              <a:t>🚦 </a:t>
            </a:r>
            <a:r>
              <a:rPr lang="en-US" sz="1700" b="1" dirty="0" err="1"/>
              <a:t>Cảnh</a:t>
            </a:r>
            <a:r>
              <a:rPr lang="en-US" sz="1700" b="1" dirty="0"/>
              <a:t> </a:t>
            </a:r>
            <a:r>
              <a:rPr lang="en-US" sz="1700" b="1" dirty="0" err="1"/>
              <a:t>báo</a:t>
            </a:r>
            <a:r>
              <a:rPr lang="en-US" sz="1700" b="1" dirty="0"/>
              <a:t> </a:t>
            </a:r>
            <a:r>
              <a:rPr lang="en-US" sz="1700" b="1" dirty="0" err="1"/>
              <a:t>thông</a:t>
            </a:r>
            <a:r>
              <a:rPr lang="en-US" sz="1700" b="1" dirty="0"/>
              <a:t> </a:t>
            </a:r>
            <a:r>
              <a:rPr lang="en-US" sz="1700" b="1" dirty="0" err="1"/>
              <a:t>minh</a:t>
            </a:r>
            <a:r>
              <a:rPr lang="en-US" sz="1700" b="1" dirty="0"/>
              <a:t>:</a:t>
            </a:r>
            <a:r>
              <a:rPr lang="en-US" sz="1700" dirty="0"/>
              <a:t> Dashboard </a:t>
            </a:r>
            <a:r>
              <a:rPr lang="en-US" sz="1700" dirty="0" err="1"/>
              <a:t>tự</a:t>
            </a:r>
            <a:r>
              <a:rPr lang="en-US" sz="1700" dirty="0"/>
              <a:t> </a:t>
            </a:r>
            <a:r>
              <a:rPr lang="en-US" sz="1700" dirty="0" err="1"/>
              <a:t>động</a:t>
            </a:r>
            <a:r>
              <a:rPr lang="en-US" sz="1700" dirty="0"/>
              <a:t> </a:t>
            </a:r>
            <a:r>
              <a:rPr lang="en-US" sz="1700" dirty="0" err="1"/>
              <a:t>đổi</a:t>
            </a:r>
            <a:r>
              <a:rPr lang="en-US" sz="1700" dirty="0"/>
              <a:t> </a:t>
            </a:r>
            <a:r>
              <a:rPr lang="en-US" sz="1700" dirty="0" err="1"/>
              <a:t>màu</a:t>
            </a:r>
            <a:r>
              <a:rPr lang="en-US" sz="1700" dirty="0"/>
              <a:t> </a:t>
            </a:r>
            <a:r>
              <a:rPr lang="en-US" sz="1700" dirty="0" err="1"/>
              <a:t>Đỏ</a:t>
            </a:r>
            <a:r>
              <a:rPr lang="en-US" sz="1700" dirty="0"/>
              <a:t>/Cam/Xanh </a:t>
            </a:r>
            <a:r>
              <a:rPr lang="en-US" sz="1700" dirty="0" err="1"/>
              <a:t>cho</a:t>
            </a:r>
            <a:r>
              <a:rPr lang="en-US" sz="1700" dirty="0"/>
              <a:t> </a:t>
            </a:r>
            <a:r>
              <a:rPr lang="en-US" sz="1700" dirty="0" err="1"/>
              <a:t>hàng</a:t>
            </a:r>
            <a:r>
              <a:rPr lang="en-US" sz="1700" dirty="0"/>
              <a:t> </a:t>
            </a:r>
            <a:r>
              <a:rPr lang="en-US" sz="1700" dirty="0" err="1"/>
              <a:t>sắp</a:t>
            </a:r>
            <a:r>
              <a:rPr lang="en-US" sz="1700" dirty="0"/>
              <a:t> </a:t>
            </a:r>
            <a:r>
              <a:rPr lang="en-US" sz="1700" dirty="0" err="1"/>
              <a:t>hết</a:t>
            </a:r>
            <a:r>
              <a:rPr lang="en-US" sz="1700" dirty="0"/>
              <a:t> </a:t>
            </a:r>
            <a:r>
              <a:rPr lang="en-US" sz="1700" dirty="0" err="1"/>
              <a:t>hạn</a:t>
            </a:r>
            <a:r>
              <a:rPr lang="en-US" sz="1700" dirty="0"/>
              <a:t>.</a:t>
            </a:r>
            <a:endParaRPr lang="en-US" sz="1700" dirty="0">
              <a:ea typeface="Source Sans Pro"/>
            </a:endParaRPr>
          </a:p>
          <a:p>
            <a:pPr marL="228600" indent="-228600">
              <a:buFont typeface=""/>
              <a:buChar char="•"/>
            </a:pPr>
            <a:endParaRPr lang="en-US" sz="1700" dirty="0"/>
          </a:p>
          <a:p>
            <a:pPr marL="228600" indent="-228600">
              <a:buFont typeface=""/>
              <a:buChar char="•"/>
            </a:pPr>
            <a:r>
              <a:rPr lang="en-US" sz="2200" dirty="0"/>
              <a:t>⚙️ </a:t>
            </a:r>
            <a:r>
              <a:rPr lang="en-US" sz="1700" b="1" dirty="0" err="1"/>
              <a:t>Xuất</a:t>
            </a:r>
            <a:r>
              <a:rPr lang="en-US" sz="1700" b="1" dirty="0"/>
              <a:t> </a:t>
            </a:r>
            <a:r>
              <a:rPr lang="en-US" sz="1700" b="1" dirty="0" err="1"/>
              <a:t>kho</a:t>
            </a:r>
            <a:r>
              <a:rPr lang="en-US" sz="1700" b="1" dirty="0"/>
              <a:t> FEFO </a:t>
            </a:r>
            <a:r>
              <a:rPr lang="en-US" sz="1700" b="1" dirty="0" err="1"/>
              <a:t>tự</a:t>
            </a:r>
            <a:r>
              <a:rPr lang="en-US" sz="1700" b="1" dirty="0"/>
              <a:t> </a:t>
            </a:r>
            <a:r>
              <a:rPr lang="en-US" sz="1700" b="1" dirty="0" err="1"/>
              <a:t>động</a:t>
            </a:r>
            <a:r>
              <a:rPr lang="en-US" sz="1700" b="1" dirty="0"/>
              <a:t>:</a:t>
            </a:r>
            <a:r>
              <a:rPr lang="en-US" sz="1700" dirty="0"/>
              <a:t> </a:t>
            </a:r>
            <a:r>
              <a:rPr lang="en-US" sz="1700" dirty="0" err="1"/>
              <a:t>Thuật</a:t>
            </a:r>
            <a:r>
              <a:rPr lang="en-US" sz="1700" dirty="0"/>
              <a:t> </a:t>
            </a:r>
            <a:r>
              <a:rPr lang="en-US" sz="1700" dirty="0" err="1"/>
              <a:t>toán</a:t>
            </a:r>
            <a:r>
              <a:rPr lang="en-US" sz="1700" dirty="0"/>
              <a:t> </a:t>
            </a:r>
            <a:r>
              <a:rPr lang="en-US" sz="1700" dirty="0" err="1"/>
              <a:t>tự</a:t>
            </a:r>
            <a:r>
              <a:rPr lang="en-US" sz="1700" dirty="0"/>
              <a:t> </a:t>
            </a:r>
            <a:r>
              <a:rPr lang="en-US" sz="1700" dirty="0" err="1"/>
              <a:t>động</a:t>
            </a:r>
            <a:r>
              <a:rPr lang="en-US" sz="1700" dirty="0"/>
              <a:t> </a:t>
            </a:r>
            <a:r>
              <a:rPr lang="en-US" sz="1700" dirty="0" err="1"/>
              <a:t>tìm</a:t>
            </a:r>
            <a:r>
              <a:rPr lang="en-US" sz="1700" dirty="0"/>
              <a:t> </a:t>
            </a:r>
            <a:r>
              <a:rPr lang="en-US" sz="1700" dirty="0" err="1"/>
              <a:t>và</a:t>
            </a:r>
            <a:r>
              <a:rPr lang="en-US" sz="1700" dirty="0"/>
              <a:t> </a:t>
            </a:r>
            <a:r>
              <a:rPr lang="en-US" sz="1700" dirty="0" err="1"/>
              <a:t>ưu</a:t>
            </a:r>
            <a:r>
              <a:rPr lang="en-US" sz="1700" dirty="0"/>
              <a:t> </a:t>
            </a:r>
            <a:r>
              <a:rPr lang="en-US" sz="1700" dirty="0" err="1"/>
              <a:t>tiên</a:t>
            </a:r>
            <a:r>
              <a:rPr lang="en-US" sz="1700" dirty="0"/>
              <a:t> </a:t>
            </a:r>
            <a:r>
              <a:rPr lang="en-US" sz="1700" dirty="0" err="1"/>
              <a:t>trừ</a:t>
            </a:r>
            <a:r>
              <a:rPr lang="en-US" sz="1700" dirty="0"/>
              <a:t> </a:t>
            </a:r>
            <a:r>
              <a:rPr lang="en-US" sz="1700" dirty="0" err="1"/>
              <a:t>tồn</a:t>
            </a:r>
            <a:r>
              <a:rPr lang="en-US" sz="1700" dirty="0"/>
              <a:t> </a:t>
            </a:r>
            <a:r>
              <a:rPr lang="en-US" sz="1700" dirty="0" err="1"/>
              <a:t>kho</a:t>
            </a:r>
            <a:r>
              <a:rPr lang="en-US" sz="1700" dirty="0"/>
              <a:t> </a:t>
            </a:r>
            <a:r>
              <a:rPr lang="en-US" sz="1700" dirty="0" err="1"/>
              <a:t>từ</a:t>
            </a:r>
            <a:r>
              <a:rPr lang="en-US" sz="1700" dirty="0"/>
              <a:t> </a:t>
            </a:r>
            <a:r>
              <a:rPr lang="en-US" sz="1700" dirty="0" err="1"/>
              <a:t>lô</a:t>
            </a:r>
            <a:r>
              <a:rPr lang="en-US" sz="1700" dirty="0"/>
              <a:t> </a:t>
            </a:r>
            <a:r>
              <a:rPr lang="en-US" sz="1700" dirty="0" err="1"/>
              <a:t>cận</a:t>
            </a:r>
            <a:r>
              <a:rPr lang="en-US" sz="1700" dirty="0"/>
              <a:t> Date </a:t>
            </a:r>
            <a:r>
              <a:rPr lang="en-US" sz="1700" dirty="0" err="1"/>
              <a:t>nhất</a:t>
            </a:r>
            <a:r>
              <a:rPr lang="en-US" sz="1700" dirty="0"/>
              <a:t>.</a:t>
            </a:r>
            <a:endParaRPr lang="en-US" sz="1700">
              <a:ea typeface="Source Sans Pro"/>
            </a:endParaRPr>
          </a:p>
          <a:p>
            <a:pPr marL="228600" indent="-228600">
              <a:buFont typeface=""/>
              <a:buChar char="•"/>
            </a:pPr>
            <a:endParaRPr lang="en-US" sz="1700" dirty="0"/>
          </a:p>
          <a:p>
            <a:pPr marL="228600" indent="-228600">
              <a:buFont typeface=""/>
              <a:buChar char="•"/>
            </a:pPr>
            <a:r>
              <a:rPr lang="en-US" sz="2200" dirty="0"/>
              <a:t>📉 </a:t>
            </a:r>
            <a:r>
              <a:rPr lang="en-US" sz="1700" b="1" dirty="0" err="1"/>
              <a:t>Giảm</a:t>
            </a:r>
            <a:r>
              <a:rPr lang="en-US" sz="1700" b="1" dirty="0"/>
              <a:t> </a:t>
            </a:r>
            <a:r>
              <a:rPr lang="en-US" sz="1700" b="1" dirty="0" err="1"/>
              <a:t>tối</a:t>
            </a:r>
            <a:r>
              <a:rPr lang="en-US" sz="1700" b="1" dirty="0"/>
              <a:t> </a:t>
            </a:r>
            <a:r>
              <a:rPr lang="en-US" sz="1700" b="1" dirty="0" err="1"/>
              <a:t>đa</a:t>
            </a:r>
            <a:r>
              <a:rPr lang="en-US" sz="1700" b="1" dirty="0"/>
              <a:t> hao </a:t>
            </a:r>
            <a:r>
              <a:rPr lang="en-US" sz="1700" b="1" dirty="0" err="1"/>
              <a:t>hụt</a:t>
            </a:r>
            <a:r>
              <a:rPr lang="en-US" sz="1700" b="1" dirty="0"/>
              <a:t>:</a:t>
            </a:r>
            <a:r>
              <a:rPr lang="en-US" sz="1700" dirty="0"/>
              <a:t> </a:t>
            </a:r>
            <a:r>
              <a:rPr lang="en-US" sz="1700" dirty="0" err="1"/>
              <a:t>Hệ</a:t>
            </a:r>
            <a:r>
              <a:rPr lang="en-US" sz="1700" dirty="0"/>
              <a:t> </a:t>
            </a:r>
            <a:r>
              <a:rPr lang="en-US" sz="1700" dirty="0" err="1"/>
              <a:t>thống</a:t>
            </a:r>
            <a:r>
              <a:rPr lang="en-US" sz="1700" dirty="0"/>
              <a:t> </a:t>
            </a:r>
            <a:r>
              <a:rPr lang="en-US" sz="1700" dirty="0" err="1"/>
              <a:t>tự</a:t>
            </a:r>
            <a:r>
              <a:rPr lang="en-US" sz="1700" dirty="0"/>
              <a:t> </a:t>
            </a:r>
            <a:r>
              <a:rPr lang="en-US" sz="1700" dirty="0" err="1"/>
              <a:t>động</a:t>
            </a:r>
            <a:r>
              <a:rPr lang="en-US" sz="1700" dirty="0"/>
              <a:t> </a:t>
            </a:r>
            <a:r>
              <a:rPr lang="en-US" sz="1700" dirty="0" err="1"/>
              <a:t>tính</a:t>
            </a:r>
            <a:r>
              <a:rPr lang="en-US" sz="1700" dirty="0"/>
              <a:t> </a:t>
            </a:r>
            <a:r>
              <a:rPr lang="en-US" sz="1700" dirty="0" err="1"/>
              <a:t>giá</a:t>
            </a:r>
            <a:r>
              <a:rPr lang="en-US" sz="1700" dirty="0"/>
              <a:t> Sale </a:t>
            </a:r>
            <a:r>
              <a:rPr lang="en-US" sz="1700" dirty="0" err="1"/>
              <a:t>lũy</a:t>
            </a:r>
            <a:r>
              <a:rPr lang="en-US" sz="1700" dirty="0"/>
              <a:t> </a:t>
            </a:r>
            <a:r>
              <a:rPr lang="en-US" sz="1700" dirty="0" err="1"/>
              <a:t>tiến</a:t>
            </a:r>
            <a:r>
              <a:rPr lang="en-US" sz="1700" dirty="0"/>
              <a:t> </a:t>
            </a:r>
            <a:r>
              <a:rPr lang="en-US" sz="1700" dirty="0" err="1"/>
              <a:t>cứu</a:t>
            </a:r>
            <a:r>
              <a:rPr lang="en-US" sz="1700" dirty="0"/>
              <a:t> </a:t>
            </a:r>
            <a:r>
              <a:rPr lang="en-US" sz="1700" dirty="0" err="1"/>
              <a:t>vãn</a:t>
            </a:r>
            <a:r>
              <a:rPr lang="en-US" sz="1700" dirty="0"/>
              <a:t> </a:t>
            </a:r>
            <a:r>
              <a:rPr lang="en-US" sz="1700" dirty="0" err="1"/>
              <a:t>doanh</a:t>
            </a:r>
            <a:r>
              <a:rPr lang="en-US" sz="1700" dirty="0"/>
              <a:t> </a:t>
            </a:r>
            <a:r>
              <a:rPr lang="en-US" sz="1700" dirty="0" err="1"/>
              <a:t>thu</a:t>
            </a:r>
            <a:r>
              <a:rPr lang="en-US" sz="1700" dirty="0"/>
              <a:t>.</a:t>
            </a:r>
            <a:endParaRPr lang="en-US" sz="1700">
              <a:ea typeface="Source Sans Pro"/>
            </a:endParaRPr>
          </a:p>
          <a:p>
            <a:pPr algn="ctr"/>
            <a:endParaRPr lang="vi-VN"/>
          </a:p>
        </p:txBody>
      </p:sp>
    </p:spTree>
    <p:extLst>
      <p:ext uri="{BB962C8B-B14F-4D97-AF65-F5344CB8AC3E}">
        <p14:creationId xmlns:p14="http://schemas.microsoft.com/office/powerpoint/2010/main" val="1757287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8BBA0CA-7469-998D-F4FF-6D9B0995BF2E}"/>
              </a:ext>
            </a:extLst>
          </p:cNvPr>
          <p:cNvSpPr>
            <a:spLocks noGrp="1"/>
          </p:cNvSpPr>
          <p:nvPr>
            <p:ph type="title"/>
          </p:nvPr>
        </p:nvSpPr>
        <p:spPr/>
        <p:txBody>
          <a:bodyPr/>
          <a:lstStyle/>
          <a:p>
            <a:r>
              <a:rPr lang="vi-VN">
                <a:ea typeface="Source Sans Pro"/>
              </a:rPr>
              <a:t>II. </a:t>
            </a:r>
            <a:r>
              <a:rPr lang="vi-VN">
                <a:ea typeface="+mj-lt"/>
                <a:cs typeface="+mj-lt"/>
              </a:rPr>
              <a:t>Phân tích &amp; Đặc tả yêu cầu</a:t>
            </a:r>
            <a:endParaRPr lang="vi-VN"/>
          </a:p>
        </p:txBody>
      </p:sp>
      <p:sp>
        <p:nvSpPr>
          <p:cNvPr id="3" name="Chỗ dành sẵn cho Nội dung 2">
            <a:extLst>
              <a:ext uri="{FF2B5EF4-FFF2-40B4-BE49-F238E27FC236}">
                <a16:creationId xmlns:a16="http://schemas.microsoft.com/office/drawing/2014/main" id="{A3D69CBE-E8B8-C5C9-EE81-51E3760F863B}"/>
              </a:ext>
            </a:extLst>
          </p:cNvPr>
          <p:cNvSpPr>
            <a:spLocks noGrp="1"/>
          </p:cNvSpPr>
          <p:nvPr>
            <p:ph idx="1"/>
          </p:nvPr>
        </p:nvSpPr>
        <p:spPr>
          <a:xfrm>
            <a:off x="1115568" y="1906524"/>
            <a:ext cx="10168128" cy="545324"/>
          </a:xfrm>
        </p:spPr>
        <p:txBody>
          <a:bodyPr lIns="109728" tIns="109728" rIns="109728" bIns="91440" anchor="t"/>
          <a:lstStyle/>
          <a:p>
            <a:pPr marL="0" indent="0">
              <a:buNone/>
            </a:pPr>
            <a:r>
              <a:rPr lang="vi-VN">
                <a:ea typeface="Source Sans Pro"/>
              </a:rPr>
              <a:t>Các chức năng cốt lõi bao gồm: </a:t>
            </a:r>
          </a:p>
          <a:p>
            <a:pPr marL="0" indent="0">
              <a:lnSpc>
                <a:spcPct val="113999"/>
              </a:lnSpc>
              <a:buNone/>
            </a:pPr>
            <a:endParaRPr lang="vi-VN" dirty="0">
              <a:ea typeface="Source Sans Pro"/>
            </a:endParaRPr>
          </a:p>
          <a:p>
            <a:pPr marL="0" indent="0">
              <a:lnSpc>
                <a:spcPct val="113999"/>
              </a:lnSpc>
              <a:buNone/>
            </a:pPr>
            <a:endParaRPr lang="vi-VN" dirty="0">
              <a:ea typeface="Source Sans Pro"/>
            </a:endParaRPr>
          </a:p>
          <a:p>
            <a:pPr marL="0" indent="0">
              <a:lnSpc>
                <a:spcPct val="113999"/>
              </a:lnSpc>
              <a:buNone/>
            </a:pPr>
            <a:endParaRPr lang="vi-VN" dirty="0">
              <a:ea typeface="Source Sans Pro"/>
            </a:endParaRPr>
          </a:p>
        </p:txBody>
      </p:sp>
      <p:sp>
        <p:nvSpPr>
          <p:cNvPr id="10" name="Hộp Văn bản 9">
            <a:extLst>
              <a:ext uri="{FF2B5EF4-FFF2-40B4-BE49-F238E27FC236}">
                <a16:creationId xmlns:a16="http://schemas.microsoft.com/office/drawing/2014/main" id="{282BFB40-94CC-3573-A786-51EB46C86E9A}"/>
              </a:ext>
            </a:extLst>
          </p:cNvPr>
          <p:cNvSpPr txBox="1"/>
          <p:nvPr/>
        </p:nvSpPr>
        <p:spPr>
          <a:xfrm>
            <a:off x="1394166" y="2606090"/>
            <a:ext cx="4009464"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vi-VN">
                <a:ea typeface="+mn-lt"/>
                <a:cs typeface="+mn-lt"/>
              </a:rPr>
              <a:t>📦 </a:t>
            </a:r>
            <a:r>
              <a:rPr lang="vi-VN" b="1">
                <a:ea typeface="+mn-lt"/>
                <a:cs typeface="+mn-lt"/>
              </a:rPr>
              <a:t>Nhập kho theo Lô (Batching):</a:t>
            </a:r>
            <a:r>
              <a:rPr lang="vi-VN" dirty="0">
                <a:ea typeface="+mn-lt"/>
                <a:cs typeface="+mn-lt"/>
              </a:rPr>
              <a:t> </a:t>
            </a:r>
            <a:r>
              <a:rPr lang="vi-VN">
                <a:ea typeface="+mn-lt"/>
                <a:cs typeface="+mn-lt"/>
              </a:rPr>
              <a:t>Khởi tạo mã Batch ID duy nhất kèm Ngày sản xuất (NSX) và Hạn sử dụng (HSD) cho từng đợt hàng.</a:t>
            </a:r>
            <a:endParaRPr lang="vi-VN">
              <a:ea typeface="Source Sans Pro"/>
            </a:endParaRPr>
          </a:p>
          <a:p>
            <a:pPr marL="285750" indent="-285750">
              <a:buAutoNum type="arabicPeriod"/>
            </a:pPr>
            <a:endParaRPr lang="vi-VN" dirty="0">
              <a:ea typeface="+mn-lt"/>
              <a:cs typeface="+mn-lt"/>
            </a:endParaRPr>
          </a:p>
          <a:p>
            <a:pPr marL="285750" indent="-285750">
              <a:buAutoNum type="arabicPeriod"/>
            </a:pPr>
            <a:r>
              <a:rPr lang="vi-VN">
                <a:ea typeface="+mn-lt"/>
                <a:cs typeface="+mn-lt"/>
              </a:rPr>
              <a:t>⚙️ </a:t>
            </a:r>
            <a:r>
              <a:rPr lang="vi-VN" b="1">
                <a:ea typeface="+mn-lt"/>
                <a:cs typeface="+mn-lt"/>
              </a:rPr>
              <a:t>Xuất kho FEFO tự động:</a:t>
            </a:r>
            <a:r>
              <a:rPr lang="vi-VN">
                <a:ea typeface="+mn-lt"/>
                <a:cs typeface="+mn-lt"/>
              </a:rPr>
              <a:t> Thuật toán tự động tìm và ưu tiên trừ tồn kho từ các lô hàng có HSD gần nhất trước.</a:t>
            </a:r>
            <a:endParaRPr lang="vi-VN">
              <a:ea typeface="Source Sans Pro"/>
            </a:endParaRPr>
          </a:p>
          <a:p>
            <a:pPr marL="285750" indent="-285750">
              <a:buAutoNum type="arabicPeriod"/>
            </a:pPr>
            <a:endParaRPr lang="vi-VN" dirty="0">
              <a:ea typeface="+mn-lt"/>
              <a:cs typeface="+mn-lt"/>
            </a:endParaRPr>
          </a:p>
          <a:p>
            <a:pPr marL="285750" indent="-285750">
              <a:buAutoNum type="arabicPeriod"/>
            </a:pPr>
            <a:r>
              <a:rPr lang="vi-VN">
                <a:ea typeface="+mn-lt"/>
                <a:cs typeface="+mn-lt"/>
              </a:rPr>
              <a:t>🚦 </a:t>
            </a:r>
            <a:r>
              <a:rPr lang="vi-VN" b="1">
                <a:ea typeface="+mn-lt"/>
                <a:cs typeface="+mn-lt"/>
              </a:rPr>
              <a:t>Dashboard cảnh báo màu:</a:t>
            </a:r>
            <a:r>
              <a:rPr lang="vi-VN">
                <a:ea typeface="+mn-lt"/>
                <a:cs typeface="+mn-lt"/>
              </a:rPr>
              <a:t> Hệ thống mã màu trực quan: Đỏ (Quá hạn), Cam (Cận date &lt;= 14 ngày) và Xanh (An toàn).</a:t>
            </a:r>
            <a:endParaRPr lang="vi-VN">
              <a:ea typeface="Source Sans Pro"/>
            </a:endParaRPr>
          </a:p>
          <a:p>
            <a:pPr algn="l"/>
            <a:endParaRPr lang="vi-VN" dirty="0">
              <a:ea typeface="Source Sans Pro"/>
            </a:endParaRPr>
          </a:p>
        </p:txBody>
      </p:sp>
      <p:sp>
        <p:nvSpPr>
          <p:cNvPr id="12" name="Hộp Văn bản 11">
            <a:extLst>
              <a:ext uri="{FF2B5EF4-FFF2-40B4-BE49-F238E27FC236}">
                <a16:creationId xmlns:a16="http://schemas.microsoft.com/office/drawing/2014/main" id="{A379D343-8BBC-781B-CA1A-4B92A48A2E09}"/>
              </a:ext>
            </a:extLst>
          </p:cNvPr>
          <p:cNvSpPr txBox="1"/>
          <p:nvPr/>
        </p:nvSpPr>
        <p:spPr>
          <a:xfrm>
            <a:off x="6478264" y="2603269"/>
            <a:ext cx="4491316"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a:ea typeface="+mn-lt"/>
                <a:cs typeface="+mn-lt"/>
              </a:rPr>
              <a:t>4.   🔒 </a:t>
            </a:r>
            <a:r>
              <a:rPr lang="vi-VN" b="1">
                <a:ea typeface="+mn-lt"/>
                <a:cs typeface="+mn-lt"/>
              </a:rPr>
              <a:t>Chặn xuất hàng quá hạn:</a:t>
            </a:r>
            <a:r>
              <a:rPr lang="vi-VN">
                <a:ea typeface="+mn-lt"/>
                <a:cs typeface="+mn-lt"/>
              </a:rPr>
              <a:t> Tự động khóa và không cho phép nhân viên thực hiện giao dịch đối với các lô hàng đã hết hạn.</a:t>
            </a:r>
            <a:endParaRPr lang="vi-VN">
              <a:ea typeface="Source Sans Pro"/>
            </a:endParaRPr>
          </a:p>
          <a:p>
            <a:pPr marL="285750" indent="-285750">
              <a:buFont typeface="Arial"/>
              <a:buChar char="•"/>
            </a:pPr>
            <a:endParaRPr lang="vi-VN" dirty="0">
              <a:ea typeface="+mn-lt"/>
              <a:cs typeface="+mn-lt"/>
            </a:endParaRPr>
          </a:p>
          <a:p>
            <a:r>
              <a:rPr lang="vi-VN">
                <a:ea typeface="+mn-lt"/>
                <a:cs typeface="+mn-lt"/>
              </a:rPr>
              <a:t>5.   📊 </a:t>
            </a:r>
            <a:r>
              <a:rPr lang="vi-VN" b="1" dirty="0">
                <a:ea typeface="+mn-lt"/>
                <a:cs typeface="+mn-lt"/>
              </a:rPr>
              <a:t>Báo cáo &amp; Thống kê hao hụt:</a:t>
            </a:r>
            <a:r>
              <a:rPr lang="vi-VN" dirty="0">
                <a:ea typeface="+mn-lt"/>
                <a:cs typeface="+mn-lt"/>
              </a:rPr>
              <a:t> Theo dõi chi tiết lượng thực phẩm phải xuất hủy và giá trị thiệt hại kinh tế theo kỳ.</a:t>
            </a:r>
            <a:endParaRPr lang="vi-VN" dirty="0">
              <a:ea typeface="Source Sans Pro"/>
            </a:endParaRPr>
          </a:p>
          <a:p>
            <a:pPr marL="285750" indent="-285750">
              <a:buFont typeface="Arial"/>
              <a:buChar char="•"/>
            </a:pPr>
            <a:endParaRPr lang="vi-VN" dirty="0">
              <a:ea typeface="+mn-lt"/>
              <a:cs typeface="+mn-lt"/>
            </a:endParaRPr>
          </a:p>
          <a:p>
            <a:r>
              <a:rPr lang="vi-VN">
                <a:ea typeface="+mn-lt"/>
                <a:cs typeface="+mn-lt"/>
              </a:rPr>
              <a:t>6.   👥 </a:t>
            </a:r>
            <a:r>
              <a:rPr lang="vi-VN" b="1" dirty="0">
                <a:ea typeface="+mn-lt"/>
                <a:cs typeface="+mn-lt"/>
              </a:rPr>
              <a:t>Phân quyền hệ thống:</a:t>
            </a:r>
            <a:r>
              <a:rPr lang="vi-VN" dirty="0">
                <a:ea typeface="+mn-lt"/>
                <a:cs typeface="+mn-lt"/>
              </a:rPr>
              <a:t> Tách biệt quyền hạn giữa Quản lý (xem báo cáo, duyệt hủy) và Nhân viên (lập phiếu nhập/xuất).</a:t>
            </a:r>
            <a:endParaRPr lang="vi-VN" dirty="0">
              <a:ea typeface="Source Sans Pro"/>
            </a:endParaRPr>
          </a:p>
          <a:p>
            <a:pPr algn="l"/>
            <a:endParaRPr lang="vi-VN" dirty="0">
              <a:ea typeface="Source Sans Pro"/>
            </a:endParaRPr>
          </a:p>
        </p:txBody>
      </p:sp>
    </p:spTree>
    <p:extLst>
      <p:ext uri="{BB962C8B-B14F-4D97-AF65-F5344CB8AC3E}">
        <p14:creationId xmlns:p14="http://schemas.microsoft.com/office/powerpoint/2010/main" val="3610194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031EA4A4-5D79-4817-B146-24029A2F3C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96B828EC-F740-58AF-4641-8DFC38F5068D}"/>
              </a:ext>
            </a:extLst>
          </p:cNvPr>
          <p:cNvSpPr>
            <a:spLocks noGrp="1"/>
          </p:cNvSpPr>
          <p:nvPr>
            <p:ph type="title"/>
          </p:nvPr>
        </p:nvSpPr>
        <p:spPr>
          <a:xfrm>
            <a:off x="7725335" y="887039"/>
            <a:ext cx="3977640" cy="1343959"/>
          </a:xfrm>
        </p:spPr>
        <p:txBody>
          <a:bodyPr vert="horz" lIns="91440" tIns="45720" rIns="91440" bIns="45720" rtlCol="0" anchor="b">
            <a:normAutofit/>
          </a:bodyPr>
          <a:lstStyle/>
          <a:p>
            <a:pPr>
              <a:lnSpc>
                <a:spcPct val="90000"/>
              </a:lnSpc>
            </a:pPr>
            <a:r>
              <a:rPr lang="vi-VN" sz="3600">
                <a:ea typeface="Source Sans Pro"/>
              </a:rPr>
              <a:t>II. Phân tích &amp; </a:t>
            </a:r>
            <a:r>
              <a:rPr lang="vi-VN" sz="3600" dirty="0">
                <a:ea typeface="Source Sans Pro"/>
              </a:rPr>
              <a:t>Đặc tả yêu cầu</a:t>
            </a:r>
            <a:r>
              <a:rPr lang="en-US" sz="3600" dirty="0">
                <a:ea typeface="Source Sans Pro"/>
              </a:rPr>
              <a:t> </a:t>
            </a:r>
          </a:p>
        </p:txBody>
      </p:sp>
      <p:pic>
        <p:nvPicPr>
          <p:cNvPr id="4" name="Hình ảnh 3" descr="Ảnh có chứa biểu đồ, văn bản, hàng, bản phác thảo&#10;&#10;Nội dung do AI tạo ra có thể không chính xác.">
            <a:extLst>
              <a:ext uri="{FF2B5EF4-FFF2-40B4-BE49-F238E27FC236}">
                <a16:creationId xmlns:a16="http://schemas.microsoft.com/office/drawing/2014/main" id="{E0DB9890-700B-9883-D319-0A3D41A2A1E2}"/>
              </a:ext>
            </a:extLst>
          </p:cNvPr>
          <p:cNvPicPr>
            <a:picLocks noChangeAspect="1"/>
          </p:cNvPicPr>
          <p:nvPr/>
        </p:nvPicPr>
        <p:blipFill>
          <a:blip r:embed="rId2"/>
          <a:srcRect t="8533" r="-1" b="6469"/>
          <a:stretch>
            <a:fillRect/>
          </a:stretch>
        </p:blipFill>
        <p:spPr>
          <a:xfrm>
            <a:off x="20" y="10"/>
            <a:ext cx="7443196" cy="6857990"/>
          </a:xfrm>
          <a:prstGeom prst="rect">
            <a:avLst/>
          </a:prstGeom>
        </p:spPr>
      </p:pic>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39776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Hộp Văn bản 4">
            <a:extLst>
              <a:ext uri="{FF2B5EF4-FFF2-40B4-BE49-F238E27FC236}">
                <a16:creationId xmlns:a16="http://schemas.microsoft.com/office/drawing/2014/main" id="{B2FFF31D-754D-EBFC-52E5-99FE1DB85C38}"/>
              </a:ext>
            </a:extLst>
          </p:cNvPr>
          <p:cNvSpPr txBox="1"/>
          <p:nvPr/>
        </p:nvSpPr>
        <p:spPr>
          <a:xfrm>
            <a:off x="8032803" y="2354407"/>
            <a:ext cx="3146611"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sz="2800">
                <a:ea typeface="Source Sans Pro"/>
              </a:rPr>
              <a:t>Biểu đồ Use Case tổng quát</a:t>
            </a:r>
          </a:p>
        </p:txBody>
      </p:sp>
      <p:sp>
        <p:nvSpPr>
          <p:cNvPr id="7" name="Hộp Văn bản 6">
            <a:extLst>
              <a:ext uri="{FF2B5EF4-FFF2-40B4-BE49-F238E27FC236}">
                <a16:creationId xmlns:a16="http://schemas.microsoft.com/office/drawing/2014/main" id="{28F48986-E52B-3519-9DF9-645A028BB209}"/>
              </a:ext>
            </a:extLst>
          </p:cNvPr>
          <p:cNvSpPr txBox="1"/>
          <p:nvPr/>
        </p:nvSpPr>
        <p:spPr>
          <a:xfrm>
            <a:off x="8035676" y="3426579"/>
            <a:ext cx="4031875"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vi-VN" b="1">
                <a:ea typeface="+mn-lt"/>
                <a:cs typeface="+mn-lt"/>
              </a:rPr>
              <a:t>Tác nhân hệ thống (Actors):</a:t>
            </a:r>
            <a:r>
              <a:rPr lang="vi-VN" dirty="0">
                <a:ea typeface="+mn-lt"/>
                <a:cs typeface="+mn-lt"/>
              </a:rPr>
              <a:t> </a:t>
            </a:r>
            <a:endParaRPr lang="vi-VN" dirty="0">
              <a:ea typeface="Source Sans Pro"/>
            </a:endParaRPr>
          </a:p>
          <a:p>
            <a:r>
              <a:rPr lang="vi-VN" b="1">
                <a:ea typeface="+mn-lt"/>
                <a:cs typeface="+mn-lt"/>
              </a:rPr>
              <a:t>         +)Quản lý (Admin)</a:t>
            </a:r>
            <a:endParaRPr lang="vi-VN">
              <a:ea typeface="Source Sans Pro"/>
            </a:endParaRPr>
          </a:p>
          <a:p>
            <a:r>
              <a:rPr lang="vi-VN" b="1">
                <a:ea typeface="+mn-lt"/>
                <a:cs typeface="+mn-lt"/>
              </a:rPr>
              <a:t>         +)Nhân viên (Staff)</a:t>
            </a:r>
            <a:endParaRPr lang="vi-VN">
              <a:ea typeface="+mn-lt"/>
              <a:cs typeface="+mn-lt"/>
            </a:endParaRPr>
          </a:p>
          <a:p>
            <a:endParaRPr lang="vi-VN" dirty="0">
              <a:ea typeface="+mn-lt"/>
              <a:cs typeface="+mn-lt"/>
            </a:endParaRPr>
          </a:p>
          <a:p>
            <a:r>
              <a:rPr lang="vi-VN" b="1">
                <a:ea typeface="+mn-lt"/>
                <a:cs typeface="+mn-lt"/>
              </a:rPr>
              <a:t>2.    Nhóm chức năng chính:</a:t>
            </a:r>
            <a:r>
              <a:rPr lang="vi-VN" dirty="0">
                <a:ea typeface="+mn-lt"/>
                <a:cs typeface="+mn-lt"/>
              </a:rPr>
              <a:t> </a:t>
            </a:r>
            <a:endParaRPr lang="vi-VN">
              <a:ea typeface="+mn-lt"/>
              <a:cs typeface="+mn-lt"/>
            </a:endParaRPr>
          </a:p>
          <a:p>
            <a:r>
              <a:rPr lang="vi-VN" b="1">
                <a:ea typeface="+mn-lt"/>
                <a:cs typeface="+mn-lt"/>
              </a:rPr>
              <a:t>         +)Nghiệp vụ kho lõi:</a:t>
            </a:r>
            <a:r>
              <a:rPr lang="vi-VN">
                <a:ea typeface="+mn-lt"/>
                <a:cs typeface="+mn-lt"/>
              </a:rPr>
              <a:t> Nhập kho tạo lô hàng (Batch), Xuất kho tự động </a:t>
            </a:r>
            <a:r>
              <a:rPr lang="vi-VN" dirty="0">
                <a:ea typeface="+mn-lt"/>
                <a:cs typeface="+mn-lt"/>
              </a:rPr>
              <a:t>FEFO.</a:t>
            </a:r>
            <a:endParaRPr lang="vi-VN">
              <a:ea typeface="Source Sans Pro"/>
            </a:endParaRPr>
          </a:p>
          <a:p>
            <a:r>
              <a:rPr lang="vi-VN" b="1">
                <a:ea typeface="+mn-lt"/>
                <a:cs typeface="+mn-lt"/>
              </a:rPr>
              <a:t>         +) Giám sát &amp; Cảnh báo:</a:t>
            </a:r>
            <a:r>
              <a:rPr lang="vi-VN" dirty="0">
                <a:ea typeface="+mn-lt"/>
                <a:cs typeface="+mn-lt"/>
              </a:rPr>
              <a:t> Dashboard theo dõi hạn sử dụng theo mã màu và báo cáo hao </a:t>
            </a:r>
            <a:r>
              <a:rPr lang="vi-VN">
                <a:ea typeface="+mn-lt"/>
                <a:cs typeface="+mn-lt"/>
              </a:rPr>
              <a:t>hụt.</a:t>
            </a:r>
            <a:endParaRPr lang="vi-VN" dirty="0">
              <a:ea typeface="+mn-lt"/>
              <a:cs typeface="+mn-lt"/>
            </a:endParaRPr>
          </a:p>
          <a:p>
            <a:r>
              <a:rPr lang="vi-VN" b="1">
                <a:ea typeface="+mn-lt"/>
                <a:cs typeface="+mn-lt"/>
              </a:rPr>
              <a:t>         +)Quản trị:</a:t>
            </a:r>
            <a:r>
              <a:rPr lang="vi-VN">
                <a:ea typeface="+mn-lt"/>
                <a:cs typeface="+mn-lt"/>
              </a:rPr>
              <a:t> Đăng nhập, phân quyền và quản lý danh mục sản phẩm.</a:t>
            </a:r>
            <a:endParaRPr lang="vi-VN">
              <a:ea typeface="Source Sans Pro"/>
            </a:endParaRPr>
          </a:p>
          <a:p>
            <a:pPr algn="l"/>
            <a:endParaRPr lang="vi-VN" dirty="0">
              <a:ea typeface="Source Sans Pro"/>
            </a:endParaRPr>
          </a:p>
        </p:txBody>
      </p:sp>
    </p:spTree>
    <p:extLst>
      <p:ext uri="{BB962C8B-B14F-4D97-AF65-F5344CB8AC3E}">
        <p14:creationId xmlns:p14="http://schemas.microsoft.com/office/powerpoint/2010/main" val="2300486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A0BB618A-B7BE-91FB-E6F7-9A7C5E12BE86}"/>
              </a:ext>
            </a:extLst>
          </p:cNvPr>
          <p:cNvSpPr>
            <a:spLocks noGrp="1"/>
          </p:cNvSpPr>
          <p:nvPr>
            <p:ph type="title"/>
          </p:nvPr>
        </p:nvSpPr>
        <p:spPr>
          <a:xfrm>
            <a:off x="477981" y="1122363"/>
            <a:ext cx="4023360" cy="3204134"/>
          </a:xfrm>
        </p:spPr>
        <p:txBody>
          <a:bodyPr vert="horz" lIns="91440" tIns="45720" rIns="91440" bIns="45720" rtlCol="0" anchor="b">
            <a:normAutofit/>
          </a:bodyPr>
          <a:lstStyle/>
          <a:p>
            <a:pPr>
              <a:lnSpc>
                <a:spcPct val="90000"/>
              </a:lnSpc>
            </a:pPr>
            <a:r>
              <a:rPr lang="en-US" sz="4800" dirty="0"/>
              <a:t>III. </a:t>
            </a:r>
            <a:r>
              <a:rPr lang="en-US" sz="4800" dirty="0" err="1"/>
              <a:t>Thiết</a:t>
            </a:r>
            <a:r>
              <a:rPr lang="en-US" sz="4800" dirty="0"/>
              <a:t> </a:t>
            </a:r>
            <a:r>
              <a:rPr lang="en-US" sz="4800" dirty="0" err="1"/>
              <a:t>kế</a:t>
            </a:r>
            <a:r>
              <a:rPr lang="en-US" sz="4800" dirty="0"/>
              <a:t> </a:t>
            </a:r>
            <a:r>
              <a:rPr lang="en-US" sz="4800" dirty="0" err="1"/>
              <a:t>Hệ</a:t>
            </a:r>
            <a:r>
              <a:rPr lang="en-US" sz="4800" dirty="0"/>
              <a:t> </a:t>
            </a:r>
            <a:r>
              <a:rPr lang="en-US" sz="4800" dirty="0" err="1"/>
              <a:t>thống</a:t>
            </a:r>
            <a:r>
              <a:rPr lang="en-US" sz="4800" dirty="0"/>
              <a:t> &amp; </a:t>
            </a:r>
            <a:r>
              <a:rPr lang="en-US" sz="4800" dirty="0" err="1"/>
              <a:t>Kiến</a:t>
            </a:r>
            <a:r>
              <a:rPr lang="en-US" sz="4800" dirty="0"/>
              <a:t> </a:t>
            </a:r>
            <a:r>
              <a:rPr lang="en-US" sz="4800" dirty="0" err="1"/>
              <a:t>trúc</a:t>
            </a:r>
            <a:r>
              <a:rPr lang="en-US" sz="4800" dirty="0"/>
              <a:t> </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Hình ảnh 3" descr="Ảnh có chứa biểu đồ, văn bản, Kế hoạch, Bản vẽ kỹ thuật&#10;&#10;Nội dung do AI tạo ra có thể không chính xác.">
            <a:extLst>
              <a:ext uri="{FF2B5EF4-FFF2-40B4-BE49-F238E27FC236}">
                <a16:creationId xmlns:a16="http://schemas.microsoft.com/office/drawing/2014/main" id="{3803BD2F-0CB6-35E2-05FD-0DFEF9CE2C5A}"/>
              </a:ext>
            </a:extLst>
          </p:cNvPr>
          <p:cNvPicPr>
            <a:picLocks noChangeAspect="1"/>
          </p:cNvPicPr>
          <p:nvPr/>
        </p:nvPicPr>
        <p:blipFill>
          <a:blip r:embed="rId2"/>
          <a:stretch>
            <a:fillRect/>
          </a:stretch>
        </p:blipFill>
        <p:spPr>
          <a:xfrm>
            <a:off x="5011286" y="356742"/>
            <a:ext cx="6821947" cy="6060497"/>
          </a:xfrm>
          <a:prstGeom prst="rect">
            <a:avLst/>
          </a:prstGeom>
        </p:spPr>
      </p:pic>
      <p:sp>
        <p:nvSpPr>
          <p:cNvPr id="6" name="Hộp Văn bản 5">
            <a:extLst>
              <a:ext uri="{FF2B5EF4-FFF2-40B4-BE49-F238E27FC236}">
                <a16:creationId xmlns:a16="http://schemas.microsoft.com/office/drawing/2014/main" id="{74BEEC18-4ECF-0B95-3A57-CFEF983ADE6A}"/>
              </a:ext>
            </a:extLst>
          </p:cNvPr>
          <p:cNvSpPr txBox="1"/>
          <p:nvPr/>
        </p:nvSpPr>
        <p:spPr>
          <a:xfrm>
            <a:off x="573831" y="4827495"/>
            <a:ext cx="3393141"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AutoNum type="arabicPeriod"/>
            </a:pPr>
            <a:r>
              <a:rPr lang="vi-VN" sz="2800">
                <a:ea typeface="Source Sans Pro"/>
              </a:rPr>
              <a:t>Mô hình kiến trúc MVC</a:t>
            </a:r>
          </a:p>
        </p:txBody>
      </p:sp>
    </p:spTree>
    <p:extLst>
      <p:ext uri="{BB962C8B-B14F-4D97-AF65-F5344CB8AC3E}">
        <p14:creationId xmlns:p14="http://schemas.microsoft.com/office/powerpoint/2010/main" val="24115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A299ADF-C96B-4580-9DF4-9D9269C56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9ADA6BC1-90F2-5248-57BD-F0A72F2D1010}"/>
              </a:ext>
            </a:extLst>
          </p:cNvPr>
          <p:cNvSpPr>
            <a:spLocks noGrp="1"/>
          </p:cNvSpPr>
          <p:nvPr>
            <p:ph type="title"/>
          </p:nvPr>
        </p:nvSpPr>
        <p:spPr>
          <a:xfrm>
            <a:off x="5084064" y="1078992"/>
            <a:ext cx="6272784" cy="1536192"/>
          </a:xfrm>
        </p:spPr>
        <p:txBody>
          <a:bodyPr anchor="b">
            <a:normAutofit/>
          </a:bodyPr>
          <a:lstStyle/>
          <a:p>
            <a:pPr>
              <a:lnSpc>
                <a:spcPct val="104000"/>
              </a:lnSpc>
            </a:pPr>
            <a:r>
              <a:rPr lang="vi-VN">
                <a:ea typeface="+mj-lt"/>
                <a:cs typeface="+mj-lt"/>
              </a:rPr>
              <a:t>Kiến trúc MVC &amp; Công nghệ sử dụng</a:t>
            </a:r>
            <a:endParaRPr lang="vi-VN"/>
          </a:p>
        </p:txBody>
      </p:sp>
      <p:pic>
        <p:nvPicPr>
          <p:cNvPr id="6" name="Hình ảnh 5" descr="Net MVC logo, ASP.NET MVC Logo .NET Framework Model–view–controller,  framework, text, logo png | PNGEgg">
            <a:extLst>
              <a:ext uri="{FF2B5EF4-FFF2-40B4-BE49-F238E27FC236}">
                <a16:creationId xmlns:a16="http://schemas.microsoft.com/office/drawing/2014/main" id="{933DDC01-D66A-DC31-646B-A052714E4B4A}"/>
              </a:ext>
            </a:extLst>
          </p:cNvPr>
          <p:cNvPicPr>
            <a:picLocks noChangeAspect="1"/>
          </p:cNvPicPr>
          <p:nvPr/>
        </p:nvPicPr>
        <p:blipFill>
          <a:blip r:embed="rId2"/>
          <a:stretch>
            <a:fillRect/>
          </a:stretch>
        </p:blipFill>
        <p:spPr>
          <a:xfrm>
            <a:off x="543500" y="367848"/>
            <a:ext cx="3532036" cy="1766018"/>
          </a:xfrm>
          <a:prstGeom prst="rect">
            <a:avLst/>
          </a:prstGeom>
        </p:spPr>
      </p:pic>
      <p:sp>
        <p:nvSpPr>
          <p:cNvPr id="15" name="Rectangle 14">
            <a:extLst>
              <a:ext uri="{FF2B5EF4-FFF2-40B4-BE49-F238E27FC236}">
                <a16:creationId xmlns:a16="http://schemas.microsoft.com/office/drawing/2014/main" id="{77B9ED5D-FBCA-4F0D-A30B-F8DB7B425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Hình ảnh 4" descr="File:Csharp Logo.png - Wikimedia Commons">
            <a:extLst>
              <a:ext uri="{FF2B5EF4-FFF2-40B4-BE49-F238E27FC236}">
                <a16:creationId xmlns:a16="http://schemas.microsoft.com/office/drawing/2014/main" id="{11BE5377-161F-ABBF-B043-B3F3A1705863}"/>
              </a:ext>
            </a:extLst>
          </p:cNvPr>
          <p:cNvPicPr>
            <a:picLocks noChangeAspect="1"/>
          </p:cNvPicPr>
          <p:nvPr/>
        </p:nvPicPr>
        <p:blipFill>
          <a:blip r:embed="rId3"/>
          <a:stretch>
            <a:fillRect/>
          </a:stretch>
        </p:blipFill>
        <p:spPr>
          <a:xfrm>
            <a:off x="1316168" y="2425528"/>
            <a:ext cx="1984248" cy="1984248"/>
          </a:xfrm>
          <a:prstGeom prst="rect">
            <a:avLst/>
          </a:prstGeom>
        </p:spPr>
      </p:pic>
      <p:sp>
        <p:nvSpPr>
          <p:cNvPr id="17" name="Rectangle 16">
            <a:extLst>
              <a:ext uri="{FF2B5EF4-FFF2-40B4-BE49-F238E27FC236}">
                <a16:creationId xmlns:a16="http://schemas.microsoft.com/office/drawing/2014/main" id="{406034C9-73F6-444C-8AF7-50F884786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Hình ảnh 7" descr="Microsoft SQL Server SQL Server Management Studio SQL Server Integration  Services Database server, microsoft, angle, text png | PNGEgg">
            <a:extLst>
              <a:ext uri="{FF2B5EF4-FFF2-40B4-BE49-F238E27FC236}">
                <a16:creationId xmlns:a16="http://schemas.microsoft.com/office/drawing/2014/main" id="{4CC4457E-8F71-FA30-6C5A-A5D2C69C34AC}"/>
              </a:ext>
            </a:extLst>
          </p:cNvPr>
          <p:cNvPicPr>
            <a:picLocks noChangeAspect="1"/>
          </p:cNvPicPr>
          <p:nvPr/>
        </p:nvPicPr>
        <p:blipFill>
          <a:blip r:embed="rId4"/>
          <a:stretch>
            <a:fillRect/>
          </a:stretch>
        </p:blipFill>
        <p:spPr>
          <a:xfrm>
            <a:off x="1019034" y="4591832"/>
            <a:ext cx="2578515" cy="1984248"/>
          </a:xfrm>
          <a:prstGeom prst="rect">
            <a:avLst/>
          </a:prstGeom>
        </p:spPr>
      </p:pic>
      <p:sp>
        <p:nvSpPr>
          <p:cNvPr id="3" name="Chỗ dành sẵn cho Nội dung 2">
            <a:extLst>
              <a:ext uri="{FF2B5EF4-FFF2-40B4-BE49-F238E27FC236}">
                <a16:creationId xmlns:a16="http://schemas.microsoft.com/office/drawing/2014/main" id="{7457EF52-7E6D-006E-D20A-E1EE72520F7E}"/>
              </a:ext>
            </a:extLst>
          </p:cNvPr>
          <p:cNvSpPr>
            <a:spLocks noGrp="1"/>
          </p:cNvSpPr>
          <p:nvPr>
            <p:ph idx="1"/>
          </p:nvPr>
        </p:nvSpPr>
        <p:spPr>
          <a:xfrm>
            <a:off x="5084064" y="3355848"/>
            <a:ext cx="6272784" cy="2825496"/>
          </a:xfrm>
        </p:spPr>
        <p:txBody>
          <a:bodyPr lIns="109728" tIns="109728" rIns="109728" bIns="91440">
            <a:normAutofit/>
          </a:bodyPr>
          <a:lstStyle/>
          <a:p>
            <a:pPr marL="0" indent="0">
              <a:lnSpc>
                <a:spcPct val="104000"/>
              </a:lnSpc>
              <a:buNone/>
            </a:pPr>
            <a:r>
              <a:rPr lang="vi-VN" sz="1500" b="1">
                <a:ea typeface="+mn-lt"/>
                <a:cs typeface="+mn-lt"/>
              </a:rPr>
              <a:t> - Ngôn ngữ lập trình:</a:t>
            </a:r>
            <a:r>
              <a:rPr lang="vi-VN" sz="1500">
                <a:ea typeface="+mn-lt"/>
                <a:cs typeface="+mn-lt"/>
              </a:rPr>
              <a:t> C# (C-Sharp). </a:t>
            </a:r>
            <a:endParaRPr lang="vi-VN" sz="1500">
              <a:ea typeface="Source Sans Pro"/>
            </a:endParaRPr>
          </a:p>
          <a:p>
            <a:pPr marL="0" indent="0">
              <a:lnSpc>
                <a:spcPct val="104000"/>
              </a:lnSpc>
              <a:buNone/>
            </a:pPr>
            <a:r>
              <a:rPr lang="vi-VN" sz="1500" b="1">
                <a:ea typeface="+mn-lt"/>
                <a:cs typeface="+mn-lt"/>
              </a:rPr>
              <a:t> - Nền tảng:</a:t>
            </a:r>
            <a:r>
              <a:rPr lang="vi-VN" sz="1500">
                <a:ea typeface="+mn-lt"/>
                <a:cs typeface="+mn-lt"/>
              </a:rPr>
              <a:t> ASP.NET Core MVC (Visual Studio 2022) giúp cấu trúc mã nguồn rõ ràng và đạt hiệu suất cao.</a:t>
            </a:r>
            <a:endParaRPr lang="vi-VN" sz="1500">
              <a:ea typeface="Source Sans Pro"/>
            </a:endParaRPr>
          </a:p>
          <a:p>
            <a:pPr marL="0" indent="0">
              <a:lnSpc>
                <a:spcPct val="104000"/>
              </a:lnSpc>
              <a:buNone/>
            </a:pPr>
            <a:r>
              <a:rPr lang="vi-VN" sz="1500" b="1">
                <a:ea typeface="+mn-lt"/>
                <a:cs typeface="+mn-lt"/>
              </a:rPr>
              <a:t> - Hệ quản trị CSDL:</a:t>
            </a:r>
            <a:r>
              <a:rPr lang="vi-VN" sz="1500">
                <a:ea typeface="+mn-lt"/>
                <a:cs typeface="+mn-lt"/>
              </a:rPr>
              <a:t> SQL Server 2022, đảm bảo an toàn tuyệt đối cho các giao dịch    (Transaction) xuất/nhập kho.</a:t>
            </a:r>
            <a:endParaRPr lang="vi-VN" sz="1500">
              <a:ea typeface="Source Sans Pro"/>
            </a:endParaRPr>
          </a:p>
          <a:p>
            <a:pPr marL="0" indent="0">
              <a:lnSpc>
                <a:spcPct val="104000"/>
              </a:lnSpc>
              <a:buNone/>
            </a:pPr>
            <a:r>
              <a:rPr lang="vi-VN" sz="1500" b="1">
                <a:ea typeface="+mn-lt"/>
                <a:cs typeface="+mn-lt"/>
              </a:rPr>
              <a:t> - Truy cập dữ liệu:</a:t>
            </a:r>
            <a:r>
              <a:rPr lang="vi-VN" sz="1500">
                <a:ea typeface="+mn-lt"/>
                <a:cs typeface="+mn-lt"/>
              </a:rPr>
              <a:t> ADO.NET (Microsoft.Data.SqlClient) giúp tối ưu tốc độ xử lý vòng lặp thuật toán FEFO.</a:t>
            </a:r>
            <a:endParaRPr lang="vi-VN" sz="1500">
              <a:ea typeface="Source Sans Pro"/>
            </a:endParaRPr>
          </a:p>
          <a:p>
            <a:pPr marL="0" indent="0">
              <a:lnSpc>
                <a:spcPct val="104000"/>
              </a:lnSpc>
              <a:buNone/>
            </a:pPr>
            <a:r>
              <a:rPr lang="vi-VN" sz="1500" b="1">
                <a:ea typeface="+mn-lt"/>
                <a:cs typeface="+mn-lt"/>
              </a:rPr>
              <a:t> -  Giao diện:</a:t>
            </a:r>
            <a:r>
              <a:rPr lang="vi-VN" sz="1500">
                <a:ea typeface="+mn-lt"/>
                <a:cs typeface="+mn-lt"/>
              </a:rPr>
              <a:t> HTML5, CSS3, Bootstrap 5 mang lại trải nghiệm mượt mà.</a:t>
            </a:r>
            <a:endParaRPr lang="vi-VN" sz="1500">
              <a:ea typeface="Source Sans Pro"/>
            </a:endParaRPr>
          </a:p>
          <a:p>
            <a:pPr>
              <a:lnSpc>
                <a:spcPct val="104000"/>
              </a:lnSpc>
            </a:pPr>
            <a:endParaRPr lang="vi-VN" sz="1500">
              <a:ea typeface="Source Sans Pro"/>
            </a:endParaRPr>
          </a:p>
        </p:txBody>
      </p:sp>
    </p:spTree>
    <p:extLst>
      <p:ext uri="{BB962C8B-B14F-4D97-AF65-F5344CB8AC3E}">
        <p14:creationId xmlns:p14="http://schemas.microsoft.com/office/powerpoint/2010/main" val="1046035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B3807C71-004F-BEB4-DBFF-4036CD68911B}"/>
              </a:ext>
            </a:extLst>
          </p:cNvPr>
          <p:cNvSpPr>
            <a:spLocks noGrp="1"/>
          </p:cNvSpPr>
          <p:nvPr>
            <p:ph type="title"/>
          </p:nvPr>
        </p:nvSpPr>
        <p:spPr>
          <a:xfrm>
            <a:off x="309893" y="629305"/>
            <a:ext cx="4639683" cy="1680134"/>
          </a:xfrm>
        </p:spPr>
        <p:txBody>
          <a:bodyPr vert="horz" lIns="91440" tIns="45720" rIns="91440" bIns="45720" rtlCol="0" anchor="b">
            <a:noAutofit/>
          </a:bodyPr>
          <a:lstStyle/>
          <a:p>
            <a:pPr>
              <a:lnSpc>
                <a:spcPct val="90000"/>
              </a:lnSpc>
            </a:pPr>
            <a:r>
              <a:rPr lang="en-US" dirty="0">
                <a:ea typeface="Source Sans Pro"/>
              </a:rPr>
              <a:t>2. </a:t>
            </a:r>
            <a:r>
              <a:rPr lang="en-US" dirty="0" err="1">
                <a:ea typeface="Source Sans Pro"/>
              </a:rPr>
              <a:t>Biểu</a:t>
            </a:r>
            <a:r>
              <a:rPr lang="en-US" dirty="0">
                <a:ea typeface="Source Sans Pro"/>
              </a:rPr>
              <a:t> </a:t>
            </a:r>
            <a:r>
              <a:rPr lang="en-US" dirty="0" err="1">
                <a:ea typeface="Source Sans Pro"/>
              </a:rPr>
              <a:t>đồ</a:t>
            </a:r>
            <a:r>
              <a:rPr lang="en-US" dirty="0">
                <a:ea typeface="Source Sans Pro"/>
              </a:rPr>
              <a:t> </a:t>
            </a:r>
            <a:r>
              <a:rPr lang="en-US" dirty="0" err="1">
                <a:ea typeface="Source Sans Pro"/>
              </a:rPr>
              <a:t>lớp</a:t>
            </a:r>
            <a:r>
              <a:rPr lang="en-US" dirty="0">
                <a:ea typeface="Source Sans Pro"/>
              </a:rPr>
              <a:t>(Class Diagram) </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Hình ảnh 3" descr="Ảnh có chứa văn bản, biểu đồ, hàng, Song song&#10;&#10;Nội dung do AI tạo ra có thể không chính xác.">
            <a:extLst>
              <a:ext uri="{FF2B5EF4-FFF2-40B4-BE49-F238E27FC236}">
                <a16:creationId xmlns:a16="http://schemas.microsoft.com/office/drawing/2014/main" id="{D5659507-4104-1D1A-AA00-75611F8A9A88}"/>
              </a:ext>
            </a:extLst>
          </p:cNvPr>
          <p:cNvPicPr>
            <a:picLocks noChangeAspect="1"/>
          </p:cNvPicPr>
          <p:nvPr/>
        </p:nvPicPr>
        <p:blipFill>
          <a:blip r:embed="rId2"/>
          <a:stretch>
            <a:fillRect/>
          </a:stretch>
        </p:blipFill>
        <p:spPr>
          <a:xfrm>
            <a:off x="4818916" y="-1846"/>
            <a:ext cx="7363568" cy="6856114"/>
          </a:xfrm>
          <a:prstGeom prst="rect">
            <a:avLst/>
          </a:prstGeom>
        </p:spPr>
      </p:pic>
    </p:spTree>
    <p:extLst>
      <p:ext uri="{BB962C8B-B14F-4D97-AF65-F5344CB8AC3E}">
        <p14:creationId xmlns:p14="http://schemas.microsoft.com/office/powerpoint/2010/main" val="4124403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DDE9E57-27F7-3A76-F1CA-FFE71B89D3ED}"/>
              </a:ext>
            </a:extLst>
          </p:cNvPr>
          <p:cNvSpPr>
            <a:spLocks noGrp="1"/>
          </p:cNvSpPr>
          <p:nvPr>
            <p:ph type="title"/>
          </p:nvPr>
        </p:nvSpPr>
        <p:spPr/>
        <p:txBody>
          <a:bodyPr/>
          <a:lstStyle/>
          <a:p>
            <a:pPr>
              <a:lnSpc>
                <a:spcPct val="113999"/>
              </a:lnSpc>
            </a:pPr>
            <a:r>
              <a:rPr lang="vi-VN">
                <a:ea typeface="+mj-lt"/>
                <a:cs typeface="+mj-lt"/>
              </a:rPr>
              <a:t>Cải tiến kỹ thuật giúp hệ thống vận hành tốt</a:t>
            </a:r>
            <a:endParaRPr lang="vi-VN"/>
          </a:p>
        </p:txBody>
      </p:sp>
      <p:sp>
        <p:nvSpPr>
          <p:cNvPr id="3" name="Chỗ dành sẵn cho Nội dung 2">
            <a:extLst>
              <a:ext uri="{FF2B5EF4-FFF2-40B4-BE49-F238E27FC236}">
                <a16:creationId xmlns:a16="http://schemas.microsoft.com/office/drawing/2014/main" id="{B87E62D3-0D14-125B-9D48-FF6FA5E7CBA4}"/>
              </a:ext>
            </a:extLst>
          </p:cNvPr>
          <p:cNvSpPr>
            <a:spLocks noGrp="1"/>
          </p:cNvSpPr>
          <p:nvPr>
            <p:ph idx="1"/>
          </p:nvPr>
        </p:nvSpPr>
        <p:spPr/>
        <p:txBody>
          <a:bodyPr lIns="109728" tIns="109728" rIns="109728" bIns="91440" anchor="t"/>
          <a:lstStyle/>
          <a:p>
            <a:pPr marL="0" indent="0">
              <a:lnSpc>
                <a:spcPct val="113999"/>
              </a:lnSpc>
              <a:buNone/>
            </a:pPr>
            <a:r>
              <a:rPr lang="vi-VN" sz="2000" b="1">
                <a:ea typeface="+mn-lt"/>
                <a:cs typeface="+mn-lt"/>
              </a:rPr>
              <a:t> - Quản lý thực thể Lô hàng:</a:t>
            </a:r>
            <a:r>
              <a:rPr lang="vi-VN" sz="2000" dirty="0">
                <a:ea typeface="+mn-lt"/>
                <a:cs typeface="+mn-lt"/>
              </a:rPr>
              <a:t> Lớp </a:t>
            </a:r>
            <a:r>
              <a:rPr lang="vi-VN" sz="2000" dirty="0">
                <a:latin typeface="Consolas"/>
                <a:ea typeface="Source Sans Pro"/>
              </a:rPr>
              <a:t>LoHang</a:t>
            </a:r>
            <a:r>
              <a:rPr lang="vi-VN" sz="2000" dirty="0">
                <a:ea typeface="+mn-lt"/>
                <a:cs typeface="+mn-lt"/>
              </a:rPr>
              <a:t> là trung tâm của hệ thống, lưu trữ chặt chẽ NSX và HSD để kiểm soát chính xác tuổi thọ thực phẩm.</a:t>
            </a:r>
          </a:p>
          <a:p>
            <a:pPr marL="0" indent="0">
              <a:lnSpc>
                <a:spcPct val="113999"/>
              </a:lnSpc>
              <a:buNone/>
            </a:pPr>
            <a:r>
              <a:rPr lang="vi-VN" sz="2000" b="1">
                <a:ea typeface="+mn-lt"/>
                <a:cs typeface="+mn-lt"/>
              </a:rPr>
              <a:t> - Kiến trúc XuatKhoViewModel:</a:t>
            </a:r>
            <a:r>
              <a:rPr lang="vi-VN" sz="2000">
                <a:ea typeface="+mn-lt"/>
                <a:cs typeface="+mn-lt"/>
              </a:rPr>
              <a:t> Đóng vai trò lớp bao (Aggregate Root), giúp đóng gói danh sách nhiều mặt hàng trong một lần gửi yêu cầu, tối ưu hóa xử lý tại Controller .</a:t>
            </a:r>
            <a:endParaRPr lang="vi-VN" sz="2000">
              <a:ea typeface="Source Sans Pro"/>
            </a:endParaRPr>
          </a:p>
          <a:p>
            <a:pPr marL="0" indent="0">
              <a:lnSpc>
                <a:spcPct val="113999"/>
              </a:lnSpc>
              <a:buNone/>
            </a:pPr>
            <a:r>
              <a:rPr lang="vi-VN" sz="2000" b="1" dirty="0">
                <a:ea typeface="+mn-lt"/>
                <a:cs typeface="+mn-lt"/>
              </a:rPr>
              <a:t> - Đảm bảo tính toàn vẹn dữ liệu:</a:t>
            </a:r>
            <a:r>
              <a:rPr lang="vi-VN" sz="2000">
                <a:ea typeface="+mn-lt"/>
                <a:cs typeface="+mn-lt"/>
              </a:rPr>
              <a:t> Quan hệ Hợp thành giữa PhieuXuat </a:t>
            </a:r>
            <a:r>
              <a:rPr lang="vi-VN" sz="2000" dirty="0">
                <a:ea typeface="+mn-lt"/>
                <a:cs typeface="+mn-lt"/>
              </a:rPr>
              <a:t>và ChiTietXuat đảm bảo tính nhất quán khi thực hiện các giao dịch xuất kho.</a:t>
            </a:r>
            <a:endParaRPr lang="vi-VN" sz="2000" dirty="0">
              <a:ea typeface="Source Sans Pro"/>
            </a:endParaRPr>
          </a:p>
          <a:p>
            <a:pPr marL="0" indent="0">
              <a:lnSpc>
                <a:spcPct val="113999"/>
              </a:lnSpc>
              <a:buNone/>
            </a:pPr>
            <a:r>
              <a:rPr lang="vi-VN" sz="2000" b="1">
                <a:ea typeface="+mn-lt"/>
                <a:cs typeface="+mn-lt"/>
              </a:rPr>
              <a:t> - Bảo mật và đồng bộ:</a:t>
            </a:r>
            <a:r>
              <a:rPr lang="vi-VN" sz="2000">
                <a:ea typeface="+mn-lt"/>
                <a:cs typeface="+mn-lt"/>
              </a:rPr>
              <a:t> Thuộc tính Makhau thể hiện tư duy bảo mật mã hóa; các trường dữ liệu khớp hoàn toàn với sơ đồ thực thể ERD</a:t>
            </a:r>
            <a:endParaRPr lang="vi-VN" sz="2000">
              <a:ea typeface="Source Sans Pro"/>
            </a:endParaRPr>
          </a:p>
          <a:p>
            <a:pPr>
              <a:lnSpc>
                <a:spcPct val="113999"/>
              </a:lnSpc>
              <a:buFont typeface="Calibri" panose="020B0604020202020204" pitchFamily="34" charset="0"/>
              <a:buChar char="-"/>
            </a:pPr>
            <a:endParaRPr lang="vi-VN" dirty="0">
              <a:ea typeface="Source Sans Pro"/>
            </a:endParaRPr>
          </a:p>
        </p:txBody>
      </p:sp>
    </p:spTree>
    <p:extLst>
      <p:ext uri="{BB962C8B-B14F-4D97-AF65-F5344CB8AC3E}">
        <p14:creationId xmlns:p14="http://schemas.microsoft.com/office/powerpoint/2010/main" val="2377467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2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0ABB81D5-E586-386B-3A94-1ECBABE4083C}"/>
              </a:ext>
            </a:extLst>
          </p:cNvPr>
          <p:cNvSpPr>
            <a:spLocks noGrp="1"/>
          </p:cNvSpPr>
          <p:nvPr>
            <p:ph type="title"/>
          </p:nvPr>
        </p:nvSpPr>
        <p:spPr>
          <a:xfrm>
            <a:off x="411480" y="991443"/>
            <a:ext cx="4443154" cy="1087819"/>
          </a:xfrm>
        </p:spPr>
        <p:txBody>
          <a:bodyPr anchor="b">
            <a:normAutofit/>
          </a:bodyPr>
          <a:lstStyle/>
          <a:p>
            <a:r>
              <a:rPr lang="vi-VN">
                <a:ea typeface="Source Sans Pro"/>
              </a:rPr>
              <a:t>3. Thiết kế CSDL</a:t>
            </a:r>
            <a:endParaRPr lang="vi-VN"/>
          </a:p>
        </p:txBody>
      </p:sp>
      <p:sp>
        <p:nvSpPr>
          <p:cNvPr id="46" name="Rectangle 3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Rectangle 32">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hỗ dành sẵn cho Nội dung 2">
            <a:extLst>
              <a:ext uri="{FF2B5EF4-FFF2-40B4-BE49-F238E27FC236}">
                <a16:creationId xmlns:a16="http://schemas.microsoft.com/office/drawing/2014/main" id="{72027C60-1D4A-3069-C82D-4A63245DFB3E}"/>
              </a:ext>
            </a:extLst>
          </p:cNvPr>
          <p:cNvSpPr>
            <a:spLocks noGrp="1"/>
          </p:cNvSpPr>
          <p:nvPr>
            <p:ph idx="1"/>
          </p:nvPr>
        </p:nvSpPr>
        <p:spPr>
          <a:xfrm>
            <a:off x="355451" y="2291889"/>
            <a:ext cx="4443154" cy="3492868"/>
          </a:xfrm>
        </p:spPr>
        <p:txBody>
          <a:bodyPr lIns="109728" tIns="109728" rIns="109728" bIns="91440" anchor="t">
            <a:noAutofit/>
          </a:bodyPr>
          <a:lstStyle/>
          <a:p>
            <a:pPr marL="0" indent="0">
              <a:lnSpc>
                <a:spcPct val="104000"/>
              </a:lnSpc>
              <a:buNone/>
            </a:pPr>
            <a:r>
              <a:rPr lang="vi-VN" sz="1400" b="1">
                <a:ea typeface="+mn-lt"/>
                <a:cs typeface="+mn-lt"/>
              </a:rPr>
              <a:t> -      Cơ chế Bảo toàn dữ liệu:</a:t>
            </a:r>
            <a:r>
              <a:rPr lang="vi-VN" sz="1400" dirty="0">
                <a:ea typeface="+mn-lt"/>
                <a:cs typeface="+mn-lt"/>
              </a:rPr>
              <a:t> Tuyệt đối không dùng lệnh </a:t>
            </a:r>
            <a:r>
              <a:rPr lang="vi-VN" sz="1400" dirty="0">
                <a:latin typeface="Consolas"/>
              </a:rPr>
              <a:t>DELETE</a:t>
            </a:r>
            <a:r>
              <a:rPr lang="vi-VN" sz="1400" dirty="0">
                <a:ea typeface="+mn-lt"/>
                <a:cs typeface="+mn-lt"/>
              </a:rPr>
              <a:t>. Hệ thống sử dụng trường </a:t>
            </a:r>
            <a:r>
              <a:rPr lang="vi-VN" sz="1400" dirty="0">
                <a:latin typeface="Consolas"/>
              </a:rPr>
              <a:t>TrangThai</a:t>
            </a:r>
            <a:r>
              <a:rPr lang="vi-VN" sz="1400" dirty="0">
                <a:ea typeface="+mn-lt"/>
                <a:cs typeface="+mn-lt"/>
              </a:rPr>
              <a:t> để quản lý hàng hóa (An toàn, Cận Date, Quá hạn, Đã Hủy), giúp bảo toàn lịch sử giao dịch và không làm đứt gãy dữ liệu .</a:t>
            </a:r>
            <a:endParaRPr lang="vi-VN" sz="1400" dirty="0">
              <a:ea typeface="Source Sans Pro"/>
            </a:endParaRPr>
          </a:p>
          <a:p>
            <a:pPr marL="0" indent="0">
              <a:lnSpc>
                <a:spcPct val="104000"/>
              </a:lnSpc>
              <a:buNone/>
            </a:pPr>
            <a:r>
              <a:rPr lang="vi-VN" sz="1400" b="1">
                <a:ea typeface="+mn-lt"/>
                <a:cs typeface="+mn-lt"/>
              </a:rPr>
              <a:t> -     Tách biệt Doanh thu &amp; Thất thoát:</a:t>
            </a:r>
            <a:r>
              <a:rPr lang="vi-VN" sz="1400">
                <a:ea typeface="+mn-lt"/>
                <a:cs typeface="+mn-lt"/>
              </a:rPr>
              <a:t> Bảng </a:t>
            </a:r>
            <a:r>
              <a:rPr lang="vi-VN" sz="1400">
                <a:latin typeface="Consolas"/>
              </a:rPr>
              <a:t>PhieuXuat</a:t>
            </a:r>
            <a:r>
              <a:rPr lang="vi-VN" sz="1400" dirty="0">
                <a:ea typeface="+mn-lt"/>
                <a:cs typeface="+mn-lt"/>
              </a:rPr>
              <a:t> </a:t>
            </a:r>
            <a:r>
              <a:rPr lang="vi-VN" sz="1400">
                <a:ea typeface="+mn-lt"/>
                <a:cs typeface="+mn-lt"/>
              </a:rPr>
              <a:t>phân loại rõ </a:t>
            </a:r>
            <a:r>
              <a:rPr lang="vi-VN" sz="1400">
                <a:latin typeface="Consolas"/>
              </a:rPr>
              <a:t>LoaiPhieu</a:t>
            </a:r>
            <a:r>
              <a:rPr lang="vi-VN" sz="1400">
                <a:ea typeface="+mn-lt"/>
                <a:cs typeface="+mn-lt"/>
              </a:rPr>
              <a:t> (Bán hàng / Hủy hàng), giúp kế toán báo cáo doanh thu chính xác và quản lý được giá trị thiệt hại do hàng hỏng .</a:t>
            </a:r>
            <a:endParaRPr lang="vi-VN" sz="1400">
              <a:ea typeface="Source Sans Pro"/>
            </a:endParaRPr>
          </a:p>
          <a:p>
            <a:pPr marL="0" indent="0">
              <a:lnSpc>
                <a:spcPct val="104000"/>
              </a:lnSpc>
              <a:buNone/>
            </a:pPr>
            <a:r>
              <a:rPr lang="vi-VN" sz="1400" b="1">
                <a:ea typeface="+mn-lt"/>
                <a:cs typeface="+mn-lt"/>
              </a:rPr>
              <a:t> -     Tự động hóa Sale theo Danh mục:</a:t>
            </a:r>
            <a:r>
              <a:rPr lang="vi-VN" sz="1400" dirty="0">
                <a:ea typeface="+mn-lt"/>
                <a:cs typeface="+mn-lt"/>
              </a:rPr>
              <a:t> Bảng </a:t>
            </a:r>
            <a:r>
              <a:rPr lang="vi-VN" sz="1400" dirty="0">
                <a:latin typeface="Consolas"/>
              </a:rPr>
              <a:t>DanhMuc</a:t>
            </a:r>
            <a:r>
              <a:rPr lang="vi-VN" sz="1400" dirty="0">
                <a:ea typeface="+mn-lt"/>
                <a:cs typeface="+mn-lt"/>
              </a:rPr>
              <a:t> tích hợp sẵn </a:t>
            </a:r>
            <a:r>
              <a:rPr lang="vi-VN" sz="1400" dirty="0">
                <a:latin typeface="Consolas"/>
              </a:rPr>
              <a:t>PhanTramSale</a:t>
            </a:r>
            <a:r>
              <a:rPr lang="vi-VN" sz="1400" dirty="0">
                <a:ea typeface="+mn-lt"/>
                <a:cs typeface="+mn-lt"/>
              </a:rPr>
              <a:t>, cho phép hệ thống tự động ánh xạ mức giảm giá khi hàng đến ngưỡng cận Date .</a:t>
            </a:r>
            <a:endParaRPr lang="vi-VN" sz="1400" dirty="0">
              <a:ea typeface="Source Sans Pro"/>
            </a:endParaRPr>
          </a:p>
          <a:p>
            <a:pPr>
              <a:lnSpc>
                <a:spcPct val="104000"/>
              </a:lnSpc>
              <a:buFont typeface="Calibri" panose="020B0604020202020204" pitchFamily="34" charset="0"/>
              <a:buChar char="-"/>
            </a:pPr>
            <a:r>
              <a:rPr lang="vi-VN" sz="1400" b="1">
                <a:ea typeface="+mn-lt"/>
                <a:cs typeface="+mn-lt"/>
              </a:rPr>
              <a:t>Quản lý đơn vị tính linh hoạt:</a:t>
            </a:r>
            <a:r>
              <a:rPr lang="vi-VN" sz="1400">
                <a:ea typeface="+mn-lt"/>
                <a:cs typeface="+mn-lt"/>
              </a:rPr>
              <a:t> Hỗ trợ đa dạng đơn vị (Kg, Bó, Hộp...) ngay trong bảng </a:t>
            </a:r>
            <a:r>
              <a:rPr lang="vi-VN" sz="1400">
                <a:latin typeface="Consolas"/>
              </a:rPr>
              <a:t>SanPham</a:t>
            </a:r>
            <a:r>
              <a:rPr lang="vi-VN" sz="1400">
                <a:ea typeface="+mn-lt"/>
                <a:cs typeface="+mn-lt"/>
              </a:rPr>
              <a:t>, giúp việc xuất/nhập kho trực quan và chính xác</a:t>
            </a:r>
            <a:endParaRPr lang="vi-VN" sz="1400" dirty="0">
              <a:ea typeface="Source Sans Pro"/>
            </a:endParaRPr>
          </a:p>
          <a:p>
            <a:pPr>
              <a:lnSpc>
                <a:spcPct val="104000"/>
              </a:lnSpc>
              <a:buFont typeface="Calibri" panose="020B0604020202020204" pitchFamily="34" charset="0"/>
              <a:buChar char="-"/>
            </a:pPr>
            <a:endParaRPr lang="vi-VN" sz="1600" dirty="0">
              <a:ea typeface="Source Sans Pro"/>
            </a:endParaRPr>
          </a:p>
        </p:txBody>
      </p:sp>
      <p:pic>
        <p:nvPicPr>
          <p:cNvPr id="6" name="Hình ảnh 5" descr="Ảnh có chứa văn bản, biểu đồ, Kế hoạch, Song song&#10;&#10;Nội dung do AI tạo ra có thể không chính xác.">
            <a:extLst>
              <a:ext uri="{FF2B5EF4-FFF2-40B4-BE49-F238E27FC236}">
                <a16:creationId xmlns:a16="http://schemas.microsoft.com/office/drawing/2014/main" id="{5D31F94D-F298-916A-E0C1-8DCCB446B465}"/>
              </a:ext>
            </a:extLst>
          </p:cNvPr>
          <p:cNvPicPr>
            <a:picLocks noChangeAspect="1"/>
          </p:cNvPicPr>
          <p:nvPr/>
        </p:nvPicPr>
        <p:blipFill>
          <a:blip r:embed="rId2"/>
          <a:stretch>
            <a:fillRect/>
          </a:stretch>
        </p:blipFill>
        <p:spPr>
          <a:xfrm>
            <a:off x="4859140" y="1003769"/>
            <a:ext cx="7213629" cy="5176109"/>
          </a:xfrm>
          <a:prstGeom prst="rect">
            <a:avLst/>
          </a:prstGeom>
        </p:spPr>
      </p:pic>
    </p:spTree>
    <p:extLst>
      <p:ext uri="{BB962C8B-B14F-4D97-AF65-F5344CB8AC3E}">
        <p14:creationId xmlns:p14="http://schemas.microsoft.com/office/powerpoint/2010/main" val="4017624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6E6692C9-A31B-E459-5605-650F6E219E9E}"/>
              </a:ext>
            </a:extLst>
          </p:cNvPr>
          <p:cNvSpPr>
            <a:spLocks noGrp="1"/>
          </p:cNvSpPr>
          <p:nvPr>
            <p:ph type="title"/>
          </p:nvPr>
        </p:nvSpPr>
        <p:spPr>
          <a:xfrm>
            <a:off x="477981" y="1122363"/>
            <a:ext cx="4023360" cy="3204134"/>
          </a:xfrm>
        </p:spPr>
        <p:txBody>
          <a:bodyPr vert="horz" lIns="91440" tIns="45720" rIns="91440" bIns="45720" rtlCol="0" anchor="b">
            <a:normAutofit/>
          </a:bodyPr>
          <a:lstStyle/>
          <a:p>
            <a:pPr>
              <a:lnSpc>
                <a:spcPct val="90000"/>
              </a:lnSpc>
            </a:pPr>
            <a:r>
              <a:rPr lang="en-US" sz="4800" dirty="0"/>
              <a:t>IV. </a:t>
            </a:r>
            <a:r>
              <a:rPr lang="en-US" sz="4800" dirty="0" err="1"/>
              <a:t>Giải</a:t>
            </a:r>
            <a:r>
              <a:rPr lang="en-US" sz="4800" dirty="0"/>
              <a:t> </a:t>
            </a:r>
            <a:r>
              <a:rPr lang="en-US" sz="4800" dirty="0" err="1"/>
              <a:t>quyết</a:t>
            </a:r>
            <a:r>
              <a:rPr lang="en-US" sz="4800" dirty="0"/>
              <a:t> </a:t>
            </a:r>
            <a:r>
              <a:rPr lang="en-US" sz="4800" dirty="0" err="1"/>
              <a:t>nghiệp</a:t>
            </a:r>
            <a:r>
              <a:rPr lang="en-US" sz="4800" dirty="0"/>
              <a:t> </a:t>
            </a:r>
            <a:r>
              <a:rPr lang="en-US" sz="4800" dirty="0" err="1"/>
              <a:t>vụ</a:t>
            </a:r>
            <a:r>
              <a:rPr lang="en-US" sz="4800" dirty="0"/>
              <a:t> </a:t>
            </a:r>
            <a:r>
              <a:rPr lang="en-US" sz="4800" dirty="0" err="1"/>
              <a:t>phức</a:t>
            </a:r>
            <a:r>
              <a:rPr lang="en-US" sz="4800" dirty="0"/>
              <a:t> </a:t>
            </a:r>
            <a:r>
              <a:rPr lang="en-US" sz="4800" dirty="0" err="1"/>
              <a:t>tạp</a:t>
            </a:r>
            <a:r>
              <a:rPr lang="en-US" sz="4800" dirty="0"/>
              <a:t> </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Hình ảnh 3" descr="Ảnh có chứa biểu đồ, Bản vẽ kỹ thuật, Kế hoạch, sơ đồ&#10;&#10;Nội dung do AI tạo ra có thể không chính xác.">
            <a:extLst>
              <a:ext uri="{FF2B5EF4-FFF2-40B4-BE49-F238E27FC236}">
                <a16:creationId xmlns:a16="http://schemas.microsoft.com/office/drawing/2014/main" id="{00642752-C105-EA79-7713-AB7D5AF6E197}"/>
              </a:ext>
            </a:extLst>
          </p:cNvPr>
          <p:cNvPicPr>
            <a:picLocks noChangeAspect="1"/>
          </p:cNvPicPr>
          <p:nvPr/>
        </p:nvPicPr>
        <p:blipFill>
          <a:blip r:embed="rId2"/>
          <a:stretch>
            <a:fillRect/>
          </a:stretch>
        </p:blipFill>
        <p:spPr>
          <a:xfrm>
            <a:off x="6337644" y="-618"/>
            <a:ext cx="5852263" cy="6854119"/>
          </a:xfrm>
          <a:prstGeom prst="rect">
            <a:avLst/>
          </a:prstGeom>
        </p:spPr>
      </p:pic>
      <p:sp>
        <p:nvSpPr>
          <p:cNvPr id="5" name="Hộp Văn bản 4">
            <a:extLst>
              <a:ext uri="{FF2B5EF4-FFF2-40B4-BE49-F238E27FC236}">
                <a16:creationId xmlns:a16="http://schemas.microsoft.com/office/drawing/2014/main" id="{BEAAC588-654D-FF4D-3B10-8E19F458FC28}"/>
              </a:ext>
            </a:extLst>
          </p:cNvPr>
          <p:cNvSpPr txBox="1"/>
          <p:nvPr/>
        </p:nvSpPr>
        <p:spPr>
          <a:xfrm>
            <a:off x="580408" y="4816197"/>
            <a:ext cx="406887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AutoNum type="arabicPeriod"/>
            </a:pPr>
            <a:r>
              <a:rPr lang="vi-VN" sz="3200">
                <a:ea typeface="+mn-lt"/>
                <a:cs typeface="+mn-lt"/>
              </a:rPr>
              <a:t>Sơ đồ khối thuật toán:</a:t>
            </a:r>
            <a:endParaRPr lang="vi-VN" sz="3200">
              <a:ea typeface="Source Sans Pro"/>
            </a:endParaRPr>
          </a:p>
        </p:txBody>
      </p:sp>
    </p:spTree>
    <p:extLst>
      <p:ext uri="{BB962C8B-B14F-4D97-AF65-F5344CB8AC3E}">
        <p14:creationId xmlns:p14="http://schemas.microsoft.com/office/powerpoint/2010/main" val="1350752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6BC9E50-6E75-F5EF-B043-C8993DF1A650}"/>
              </a:ext>
            </a:extLst>
          </p:cNvPr>
          <p:cNvSpPr>
            <a:spLocks noGrp="1"/>
          </p:cNvSpPr>
          <p:nvPr>
            <p:ph type="title"/>
          </p:nvPr>
        </p:nvSpPr>
        <p:spPr/>
        <p:txBody>
          <a:bodyPr/>
          <a:lstStyle/>
          <a:p>
            <a:pPr>
              <a:lnSpc>
                <a:spcPct val="113999"/>
              </a:lnSpc>
            </a:pPr>
            <a:r>
              <a:rPr lang="vi-VN">
                <a:ea typeface="+mj-lt"/>
                <a:cs typeface="+mj-lt"/>
              </a:rPr>
              <a:t>Thuật toán xuất kho thông minh FEFO</a:t>
            </a:r>
            <a:endParaRPr lang="vi-VN"/>
          </a:p>
        </p:txBody>
      </p:sp>
      <p:sp>
        <p:nvSpPr>
          <p:cNvPr id="3" name="Chỗ dành sẵn cho Nội dung 2">
            <a:extLst>
              <a:ext uri="{FF2B5EF4-FFF2-40B4-BE49-F238E27FC236}">
                <a16:creationId xmlns:a16="http://schemas.microsoft.com/office/drawing/2014/main" id="{1F15E3B8-F34F-8A57-D368-0AE4CE7CE060}"/>
              </a:ext>
            </a:extLst>
          </p:cNvPr>
          <p:cNvSpPr>
            <a:spLocks noGrp="1"/>
          </p:cNvSpPr>
          <p:nvPr>
            <p:ph idx="1"/>
          </p:nvPr>
        </p:nvSpPr>
        <p:spPr/>
        <p:txBody>
          <a:bodyPr lIns="109728" tIns="109728" rIns="109728" bIns="91440" anchor="t"/>
          <a:lstStyle/>
          <a:p>
            <a:pPr>
              <a:buFont typeface="Calibri"/>
              <a:buChar char="-"/>
            </a:pPr>
            <a:r>
              <a:rPr lang="vi-VN" sz="2000" b="1">
                <a:ea typeface="+mn-lt"/>
                <a:cs typeface="+mn-lt"/>
              </a:rPr>
              <a:t>Từ FIFO chuyển sang FEFO:</a:t>
            </a:r>
            <a:r>
              <a:rPr lang="vi-VN" sz="2000">
                <a:ea typeface="+mn-lt"/>
                <a:cs typeface="+mn-lt"/>
              </a:rPr>
              <a:t> Nhóm quyết định sử dụng FEFO (First Expired, First Out) thay vì FIFO truyền thống. Hệ thống luôn ưu tiên xuất lô hàng có </a:t>
            </a:r>
            <a:r>
              <a:rPr lang="vi-VN" sz="2000" b="1">
                <a:ea typeface="+mn-lt"/>
                <a:cs typeface="+mn-lt"/>
              </a:rPr>
              <a:t>Hạn sử dụng gần nhất</a:t>
            </a:r>
            <a:r>
              <a:rPr lang="vi-VN" sz="2000">
                <a:ea typeface="+mn-lt"/>
                <a:cs typeface="+mn-lt"/>
              </a:rPr>
              <a:t> bất kể ngày nhập kho .</a:t>
            </a:r>
            <a:endParaRPr lang="vi-VN" sz="2000" dirty="0">
              <a:ea typeface="Source Sans Pro"/>
            </a:endParaRPr>
          </a:p>
          <a:p>
            <a:pPr>
              <a:lnSpc>
                <a:spcPct val="113999"/>
              </a:lnSpc>
              <a:buFont typeface="Calibri" panose="020B0604020202020204" pitchFamily="34" charset="0"/>
              <a:buChar char="-"/>
            </a:pPr>
            <a:r>
              <a:rPr lang="vi-VN" sz="2000" b="1">
                <a:ea typeface="+mn-lt"/>
                <a:cs typeface="+mn-lt"/>
              </a:rPr>
              <a:t>Tối ưu hóa Truy vấn:</a:t>
            </a:r>
            <a:r>
              <a:rPr lang="vi-VN" sz="2000">
                <a:ea typeface="+mn-lt"/>
                <a:cs typeface="+mn-lt"/>
              </a:rPr>
              <a:t> Thuật toán được thực thi mạnh mẽ dưới CSDL bằng câu lệnh ORDER  BY HanSuDung ASC, đảm bảo hàng cận date luôn được đẩy lên đầu danh sách .</a:t>
            </a:r>
            <a:endParaRPr lang="vi-VN" sz="2000">
              <a:ea typeface="Source Sans Pro"/>
            </a:endParaRPr>
          </a:p>
          <a:p>
            <a:pPr>
              <a:lnSpc>
                <a:spcPct val="113999"/>
              </a:lnSpc>
              <a:buFont typeface="Calibri" panose="020B0604020202020204" pitchFamily="34" charset="0"/>
              <a:buChar char="-"/>
            </a:pPr>
            <a:r>
              <a:rPr lang="vi-VN" sz="2000" b="1">
                <a:ea typeface="+mn-lt"/>
                <a:cs typeface="+mn-lt"/>
              </a:rPr>
              <a:t>Bảo vệ toàn vẹn dữ liệu:</a:t>
            </a:r>
            <a:r>
              <a:rPr lang="vi-VN" sz="2000">
                <a:ea typeface="+mn-lt"/>
                <a:cs typeface="+mn-lt"/>
              </a:rPr>
              <a:t> Toàn bộ vòng lặp trừ lùi được đặt trong một khối giao dịch (SQL Transaction). Nếu có bất kỳ lỗi nào (như hết hàng giữa chừng), hệ thống tự động Rollback để không làm sai lệch tồn kho.</a:t>
            </a:r>
            <a:endParaRPr lang="vi-VN" sz="2000">
              <a:ea typeface="Source Sans Pro"/>
            </a:endParaRPr>
          </a:p>
          <a:p>
            <a:pPr>
              <a:lnSpc>
                <a:spcPct val="113999"/>
              </a:lnSpc>
              <a:buFont typeface="Calibri" panose="020B0604020202020204" pitchFamily="34" charset="0"/>
              <a:buChar char="-"/>
            </a:pPr>
            <a:r>
              <a:rPr lang="vi-VN" sz="2000" b="1">
                <a:ea typeface="+mn-lt"/>
                <a:cs typeface="+mn-lt"/>
              </a:rPr>
              <a:t>Ràng buộc:</a:t>
            </a:r>
            <a:r>
              <a:rPr lang="vi-VN" sz="2000">
                <a:ea typeface="+mn-lt"/>
                <a:cs typeface="+mn-lt"/>
              </a:rPr>
              <a:t> An toàn 2 lớp, chặn đứng hoàn toàn rủi ro nhân viên xuất bán vượt quá số lượng tồn thực tế .</a:t>
            </a:r>
            <a:endParaRPr lang="vi-VN" sz="2000">
              <a:ea typeface="Source Sans Pro"/>
            </a:endParaRPr>
          </a:p>
          <a:p>
            <a:pPr>
              <a:lnSpc>
                <a:spcPct val="113999"/>
              </a:lnSpc>
              <a:buFont typeface="Calibri" panose="020B0604020202020204" pitchFamily="34" charset="0"/>
              <a:buChar char="-"/>
            </a:pPr>
            <a:endParaRPr lang="vi-VN" sz="2000" dirty="0">
              <a:ea typeface="Source Sans Pro"/>
            </a:endParaRPr>
          </a:p>
        </p:txBody>
      </p:sp>
    </p:spTree>
    <p:extLst>
      <p:ext uri="{BB962C8B-B14F-4D97-AF65-F5344CB8AC3E}">
        <p14:creationId xmlns:p14="http://schemas.microsoft.com/office/powerpoint/2010/main" val="3801362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êu đề 1">
            <a:extLst>
              <a:ext uri="{FF2B5EF4-FFF2-40B4-BE49-F238E27FC236}">
                <a16:creationId xmlns:a16="http://schemas.microsoft.com/office/drawing/2014/main" id="{C2A882EB-DB58-1404-57F0-3B2D7C0A5671}"/>
              </a:ext>
            </a:extLst>
          </p:cNvPr>
          <p:cNvSpPr>
            <a:spLocks noGrp="1"/>
          </p:cNvSpPr>
          <p:nvPr>
            <p:ph type="title"/>
          </p:nvPr>
        </p:nvSpPr>
        <p:spPr>
          <a:xfrm>
            <a:off x="841247" y="978619"/>
            <a:ext cx="3410712" cy="1106424"/>
          </a:xfrm>
        </p:spPr>
        <p:txBody>
          <a:bodyPr>
            <a:normAutofit/>
          </a:bodyPr>
          <a:lstStyle/>
          <a:p>
            <a:pPr>
              <a:lnSpc>
                <a:spcPct val="104000"/>
              </a:lnSpc>
            </a:pPr>
            <a:r>
              <a:rPr lang="en-US" sz="2800">
                <a:ea typeface="Source Sans Pro"/>
              </a:rPr>
              <a:t>IV. Giải quyết nghiệp vụ phức tạp </a:t>
            </a:r>
            <a:endParaRPr lang="vi-VN" sz="2800">
              <a:ea typeface="Source Sans Pro"/>
            </a:endParaRPr>
          </a:p>
          <a:p>
            <a:pPr>
              <a:lnSpc>
                <a:spcPct val="104000"/>
              </a:lnSpc>
            </a:pPr>
            <a:endParaRPr lang="vi-VN" sz="2800">
              <a:ea typeface="Source Sans Pro"/>
            </a:endParaRPr>
          </a:p>
        </p:txBody>
      </p:sp>
      <p:sp>
        <p:nvSpPr>
          <p:cNvPr id="15" name="Rectangle 14">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48E081CE-9DE6-CC85-BE86-1EB613433AAF}"/>
              </a:ext>
            </a:extLst>
          </p:cNvPr>
          <p:cNvSpPr>
            <a:spLocks noGrp="1"/>
          </p:cNvSpPr>
          <p:nvPr>
            <p:ph idx="1"/>
          </p:nvPr>
        </p:nvSpPr>
        <p:spPr>
          <a:xfrm>
            <a:off x="966508" y="1981473"/>
            <a:ext cx="3339151" cy="825403"/>
          </a:xfrm>
        </p:spPr>
        <p:txBody>
          <a:bodyPr lIns="109728" tIns="109728" rIns="109728" bIns="91440" anchor="t">
            <a:noAutofit/>
          </a:bodyPr>
          <a:lstStyle/>
          <a:p>
            <a:pPr marL="0" indent="0">
              <a:lnSpc>
                <a:spcPct val="113999"/>
              </a:lnSpc>
              <a:buNone/>
            </a:pPr>
            <a:r>
              <a:rPr lang="en-US" sz="2000" dirty="0">
                <a:ea typeface="+mn-lt"/>
                <a:cs typeface="+mn-lt"/>
              </a:rPr>
              <a:t>2. Dashboard </a:t>
            </a:r>
            <a:r>
              <a:rPr lang="en-US" sz="2000" dirty="0" err="1">
                <a:ea typeface="+mn-lt"/>
                <a:cs typeface="+mn-lt"/>
              </a:rPr>
              <a:t>tự</a:t>
            </a:r>
            <a:r>
              <a:rPr lang="en-US" sz="2000" dirty="0">
                <a:ea typeface="+mn-lt"/>
                <a:cs typeface="+mn-lt"/>
              </a:rPr>
              <a:t> </a:t>
            </a:r>
            <a:r>
              <a:rPr lang="en-US" sz="2000" dirty="0" err="1">
                <a:ea typeface="+mn-lt"/>
                <a:cs typeface="+mn-lt"/>
              </a:rPr>
              <a:t>động</a:t>
            </a:r>
            <a:r>
              <a:rPr lang="en-US" sz="2000" dirty="0">
                <a:ea typeface="+mn-lt"/>
                <a:cs typeface="+mn-lt"/>
              </a:rPr>
              <a:t> </a:t>
            </a:r>
            <a:r>
              <a:rPr lang="en-US" sz="2000" dirty="0" err="1">
                <a:ea typeface="+mn-lt"/>
                <a:cs typeface="+mn-lt"/>
              </a:rPr>
              <a:t>hóa</a:t>
            </a:r>
            <a:r>
              <a:rPr lang="en-US" sz="2000" dirty="0">
                <a:ea typeface="+mn-lt"/>
                <a:cs typeface="+mn-lt"/>
              </a:rPr>
              <a:t> &amp; </a:t>
            </a:r>
            <a:r>
              <a:rPr lang="en-US" sz="2000" dirty="0" err="1">
                <a:ea typeface="+mn-lt"/>
                <a:cs typeface="+mn-lt"/>
              </a:rPr>
              <a:t>Tối</a:t>
            </a:r>
            <a:r>
              <a:rPr lang="en-US" sz="2000" dirty="0">
                <a:ea typeface="+mn-lt"/>
                <a:cs typeface="+mn-lt"/>
              </a:rPr>
              <a:t> </a:t>
            </a:r>
            <a:r>
              <a:rPr lang="en-US" sz="2000" dirty="0" err="1">
                <a:ea typeface="+mn-lt"/>
                <a:cs typeface="+mn-lt"/>
              </a:rPr>
              <a:t>ưu</a:t>
            </a:r>
            <a:r>
              <a:rPr lang="en-US" sz="2000" dirty="0">
                <a:ea typeface="+mn-lt"/>
                <a:cs typeface="+mn-lt"/>
              </a:rPr>
              <a:t> </a:t>
            </a:r>
            <a:r>
              <a:rPr lang="en-US" sz="2000" dirty="0" err="1">
                <a:ea typeface="+mn-lt"/>
                <a:cs typeface="+mn-lt"/>
              </a:rPr>
              <a:t>lợi</a:t>
            </a:r>
            <a:r>
              <a:rPr lang="en-US" sz="2000" dirty="0">
                <a:ea typeface="+mn-lt"/>
                <a:cs typeface="+mn-lt"/>
              </a:rPr>
              <a:t>  </a:t>
            </a:r>
            <a:r>
              <a:rPr lang="en-US" sz="2000" dirty="0" err="1">
                <a:ea typeface="+mn-lt"/>
                <a:cs typeface="+mn-lt"/>
              </a:rPr>
              <a:t>nhuận</a:t>
            </a:r>
            <a:endParaRPr lang="en-US" sz="2000">
              <a:ea typeface="+mn-lt"/>
              <a:cs typeface="+mn-lt"/>
            </a:endParaRPr>
          </a:p>
          <a:p>
            <a:pPr marL="0" indent="0">
              <a:lnSpc>
                <a:spcPct val="113999"/>
              </a:lnSpc>
              <a:buNone/>
            </a:pPr>
            <a:endParaRPr lang="en-US" sz="1800" dirty="0">
              <a:ea typeface="Source Sans Pro"/>
            </a:endParaRPr>
          </a:p>
          <a:p>
            <a:pPr marL="0" indent="0">
              <a:lnSpc>
                <a:spcPct val="113999"/>
              </a:lnSpc>
              <a:buNone/>
            </a:pPr>
            <a:endParaRPr lang="en-US" sz="1800" dirty="0">
              <a:ea typeface="Source Sans Pro"/>
            </a:endParaRPr>
          </a:p>
        </p:txBody>
      </p:sp>
      <p:pic>
        <p:nvPicPr>
          <p:cNvPr id="4" name="Chỗ dành sẵn cho Nội dung 3" descr="Ảnh có chứa văn bản, biểu đồ, ảnh chụp màn hình, hàng&#10;&#10;Nội dung do AI tạo ra có thể không chính xác.">
            <a:extLst>
              <a:ext uri="{FF2B5EF4-FFF2-40B4-BE49-F238E27FC236}">
                <a16:creationId xmlns:a16="http://schemas.microsoft.com/office/drawing/2014/main" id="{9BF07C6A-9E32-1E75-FA8D-8657B25B219E}"/>
              </a:ext>
            </a:extLst>
          </p:cNvPr>
          <p:cNvPicPr>
            <a:picLocks noChangeAspect="1"/>
          </p:cNvPicPr>
          <p:nvPr/>
        </p:nvPicPr>
        <p:blipFill>
          <a:blip r:embed="rId2"/>
          <a:stretch>
            <a:fillRect/>
          </a:stretch>
        </p:blipFill>
        <p:spPr>
          <a:xfrm>
            <a:off x="6271447" y="630936"/>
            <a:ext cx="4355218" cy="5495544"/>
          </a:xfrm>
          <a:prstGeom prst="rect">
            <a:avLst/>
          </a:prstGeom>
        </p:spPr>
      </p:pic>
      <p:sp>
        <p:nvSpPr>
          <p:cNvPr id="5" name="Hộp Văn bản 4">
            <a:extLst>
              <a:ext uri="{FF2B5EF4-FFF2-40B4-BE49-F238E27FC236}">
                <a16:creationId xmlns:a16="http://schemas.microsoft.com/office/drawing/2014/main" id="{C2044905-809F-3595-516A-B436A181DF27}"/>
              </a:ext>
            </a:extLst>
          </p:cNvPr>
          <p:cNvSpPr txBox="1"/>
          <p:nvPr/>
        </p:nvSpPr>
        <p:spPr>
          <a:xfrm>
            <a:off x="6521847" y="6392459"/>
            <a:ext cx="497700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a:t>Biểu đồ trạng thái Lô hàng (State Diagram)</a:t>
            </a:r>
          </a:p>
          <a:p>
            <a:pPr marL="285750" indent="-285750">
              <a:buFont typeface="Arial"/>
              <a:buChar char="•"/>
            </a:pPr>
            <a:endParaRPr lang="vi-VN"/>
          </a:p>
          <a:p>
            <a:pPr algn="l"/>
            <a:endParaRPr lang="vi-VN" dirty="0">
              <a:ea typeface="Source Sans Pro"/>
            </a:endParaRPr>
          </a:p>
        </p:txBody>
      </p:sp>
      <p:sp>
        <p:nvSpPr>
          <p:cNvPr id="6" name="Hộp Văn bản 5">
            <a:extLst>
              <a:ext uri="{FF2B5EF4-FFF2-40B4-BE49-F238E27FC236}">
                <a16:creationId xmlns:a16="http://schemas.microsoft.com/office/drawing/2014/main" id="{0C1AF9E3-EEDB-9E22-3601-039AD88892C4}"/>
              </a:ext>
            </a:extLst>
          </p:cNvPr>
          <p:cNvSpPr txBox="1"/>
          <p:nvPr/>
        </p:nvSpPr>
        <p:spPr>
          <a:xfrm>
            <a:off x="845507" y="2927959"/>
            <a:ext cx="3569918"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Google Sans"/>
                <a:ea typeface="Google Sans"/>
                <a:cs typeface="Google Sans"/>
              </a:rPr>
              <a:t>Hệ thống giám sát thời gian thực:</a:t>
            </a:r>
          </a:p>
          <a:p>
            <a:endParaRPr lang="en-US" b="1">
              <a:latin typeface="Google Sans"/>
              <a:ea typeface="Google Sans"/>
              <a:cs typeface="Google Sans"/>
            </a:endParaRPr>
          </a:p>
          <a:p>
            <a:r>
              <a:rPr lang="en-US" b="1">
                <a:latin typeface="Google Sans"/>
                <a:ea typeface="Google Sans"/>
                <a:cs typeface="Google Sans"/>
              </a:rPr>
              <a:t> 🟢 Xanh: Hàng an toàn.</a:t>
            </a:r>
          </a:p>
          <a:p>
            <a:endParaRPr lang="en-US" b="1">
              <a:latin typeface="Google Sans"/>
              <a:ea typeface="Google Sans"/>
              <a:cs typeface="Google Sans"/>
            </a:endParaRPr>
          </a:p>
          <a:p>
            <a:r>
              <a:rPr lang="en-US" b="1">
                <a:latin typeface="Google Sans"/>
                <a:ea typeface="Google Sans"/>
                <a:cs typeface="Google Sans"/>
              </a:rPr>
              <a:t> 🟠 Cam: Cận date (Còn &lt;= 14 ngày) – Kích hoạt chiến dịch giảm giá.</a:t>
            </a:r>
          </a:p>
          <a:p>
            <a:endParaRPr lang="en-US" b="1">
              <a:latin typeface="Google Sans"/>
              <a:ea typeface="Google Sans"/>
              <a:cs typeface="Google Sans"/>
            </a:endParaRPr>
          </a:p>
          <a:p>
            <a:r>
              <a:rPr lang="en-US" b="1">
                <a:latin typeface="Google Sans"/>
                <a:ea typeface="Google Sans"/>
                <a:cs typeface="Google Sans"/>
              </a:rPr>
              <a:t> 🔴 Đỏ: Quá hạn – Hệ thống tự động khóa xuất bán, bắt buộc chuyển sang quy trình xuất hủy .</a:t>
            </a:r>
          </a:p>
          <a:p>
            <a:endParaRPr lang="en-US" b="1">
              <a:latin typeface="Google Sans"/>
              <a:ea typeface="Google Sans"/>
              <a:cs typeface="Google Sans"/>
            </a:endParaRPr>
          </a:p>
          <a:p>
            <a:endParaRPr lang="en-US" b="1">
              <a:latin typeface="Google Sans"/>
              <a:ea typeface="Google Sans"/>
              <a:cs typeface="Google Sans"/>
            </a:endParaRPr>
          </a:p>
          <a:p>
            <a:pPr algn="ctr"/>
            <a:endParaRPr lang="vi-VN"/>
          </a:p>
        </p:txBody>
      </p:sp>
    </p:spTree>
    <p:extLst>
      <p:ext uri="{BB962C8B-B14F-4D97-AF65-F5344CB8AC3E}">
        <p14:creationId xmlns:p14="http://schemas.microsoft.com/office/powerpoint/2010/main" val="1672680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12BD4DB-317C-0C1D-4C41-40D80013E48F}"/>
              </a:ext>
            </a:extLst>
          </p:cNvPr>
          <p:cNvSpPr>
            <a:spLocks noGrp="1"/>
          </p:cNvSpPr>
          <p:nvPr>
            <p:ph type="title"/>
          </p:nvPr>
        </p:nvSpPr>
        <p:spPr/>
        <p:txBody>
          <a:bodyPr/>
          <a:lstStyle/>
          <a:p>
            <a:r>
              <a:rPr lang="vi-VN">
                <a:ea typeface="Source Sans Pro"/>
              </a:rPr>
              <a:t>V. </a:t>
            </a:r>
            <a:r>
              <a:rPr lang="vi-VN">
                <a:latin typeface="Source Sans Pro"/>
                <a:ea typeface="Source Sans Pro"/>
                <a:cs typeface="Times New Roman"/>
              </a:rPr>
              <a:t>Đảm bảo chất lượng &amp; Tổng kết </a:t>
            </a:r>
            <a:endParaRPr lang="vi-VN">
              <a:latin typeface="Source Sans Pro"/>
            </a:endParaRPr>
          </a:p>
        </p:txBody>
      </p:sp>
      <p:sp>
        <p:nvSpPr>
          <p:cNvPr id="5" name="Hình chữ nhật: Góc Tròn 4">
            <a:extLst>
              <a:ext uri="{FF2B5EF4-FFF2-40B4-BE49-F238E27FC236}">
                <a16:creationId xmlns:a16="http://schemas.microsoft.com/office/drawing/2014/main" id="{71FBD993-969D-B3A3-003B-A265E3379DAA}"/>
              </a:ext>
            </a:extLst>
          </p:cNvPr>
          <p:cNvSpPr/>
          <p:nvPr/>
        </p:nvSpPr>
        <p:spPr>
          <a:xfrm>
            <a:off x="1110739" y="3840633"/>
            <a:ext cx="4096752" cy="303546"/>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ình chữ nhật: Góc Tròn 5">
            <a:extLst>
              <a:ext uri="{FF2B5EF4-FFF2-40B4-BE49-F238E27FC236}">
                <a16:creationId xmlns:a16="http://schemas.microsoft.com/office/drawing/2014/main" id="{6D172A27-D4A2-3E04-45AF-64333EEC6BD1}"/>
              </a:ext>
            </a:extLst>
          </p:cNvPr>
          <p:cNvSpPr/>
          <p:nvPr/>
        </p:nvSpPr>
        <p:spPr>
          <a:xfrm>
            <a:off x="1110738" y="3840633"/>
            <a:ext cx="4096752" cy="303546"/>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7" name="Đồ họa 6" descr="Checkmark with solid fill">
            <a:extLst>
              <a:ext uri="{FF2B5EF4-FFF2-40B4-BE49-F238E27FC236}">
                <a16:creationId xmlns:a16="http://schemas.microsoft.com/office/drawing/2014/main" id="{8E5807D8-ECAC-EECA-BA7E-7A0FD186C1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4977" y="3223424"/>
            <a:ext cx="735106" cy="701489"/>
          </a:xfrm>
          <a:prstGeom prst="rect">
            <a:avLst/>
          </a:prstGeom>
        </p:spPr>
      </p:pic>
      <p:sp>
        <p:nvSpPr>
          <p:cNvPr id="8" name="Hộp Văn bản 7">
            <a:extLst>
              <a:ext uri="{FF2B5EF4-FFF2-40B4-BE49-F238E27FC236}">
                <a16:creationId xmlns:a16="http://schemas.microsoft.com/office/drawing/2014/main" id="{5A6691E2-9F8E-CF6C-564E-ADFC341FC7F6}"/>
              </a:ext>
            </a:extLst>
          </p:cNvPr>
          <p:cNvSpPr txBox="1"/>
          <p:nvPr/>
        </p:nvSpPr>
        <p:spPr>
          <a:xfrm>
            <a:off x="1626958" y="2991351"/>
            <a:ext cx="38861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vi-VN" sz="2400" b="1">
                <a:latin typeface="Segoe UI"/>
                <a:cs typeface="Segoe UI"/>
              </a:rPr>
              <a:t>100% SUCCESS RATE</a:t>
            </a:r>
            <a:endParaRPr lang="vi-VN" sz="2400" b="1">
              <a:latin typeface="Source Sans Pro"/>
              <a:ea typeface="Source Sans Pro"/>
              <a:cs typeface="Segoe UI"/>
            </a:endParaRPr>
          </a:p>
        </p:txBody>
      </p:sp>
      <p:sp>
        <p:nvSpPr>
          <p:cNvPr id="3" name="Hộp Văn bản 2">
            <a:extLst>
              <a:ext uri="{FF2B5EF4-FFF2-40B4-BE49-F238E27FC236}">
                <a16:creationId xmlns:a16="http://schemas.microsoft.com/office/drawing/2014/main" id="{4A88469B-4112-2848-5466-A26CC02096DA}"/>
              </a:ext>
            </a:extLst>
          </p:cNvPr>
          <p:cNvSpPr txBox="1"/>
          <p:nvPr/>
        </p:nvSpPr>
        <p:spPr>
          <a:xfrm>
            <a:off x="1898224" y="3430559"/>
            <a:ext cx="25190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a:solidFill>
                  <a:schemeClr val="bg2">
                    <a:lumMod val="49000"/>
                  </a:schemeClr>
                </a:solidFill>
                <a:ea typeface="+mn-lt"/>
                <a:cs typeface="+mn-lt"/>
              </a:rPr>
              <a:t>10/10 Test Cases Passed</a:t>
            </a:r>
            <a:endParaRPr lang="vi-VN">
              <a:solidFill>
                <a:schemeClr val="bg2">
                  <a:lumMod val="49000"/>
                </a:schemeClr>
              </a:solidFill>
            </a:endParaRPr>
          </a:p>
        </p:txBody>
      </p:sp>
      <p:sp>
        <p:nvSpPr>
          <p:cNvPr id="4" name="Hộp Văn bản 3">
            <a:extLst>
              <a:ext uri="{FF2B5EF4-FFF2-40B4-BE49-F238E27FC236}">
                <a16:creationId xmlns:a16="http://schemas.microsoft.com/office/drawing/2014/main" id="{E052C321-5095-A3FE-68CA-D5BF96BB3052}"/>
              </a:ext>
            </a:extLst>
          </p:cNvPr>
          <p:cNvSpPr txBox="1"/>
          <p:nvPr/>
        </p:nvSpPr>
        <p:spPr>
          <a:xfrm>
            <a:off x="5658971" y="3249706"/>
            <a:ext cx="60960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dirty="0"/>
              <a:t>🛡️ </a:t>
            </a:r>
            <a:r>
              <a:rPr lang="en-US" b="1" dirty="0" err="1"/>
              <a:t>Kiểm</a:t>
            </a:r>
            <a:r>
              <a:rPr lang="en-US" b="1" dirty="0"/>
              <a:t> </a:t>
            </a:r>
            <a:r>
              <a:rPr lang="en-US" b="1" dirty="0" err="1"/>
              <a:t>soát</a:t>
            </a:r>
            <a:r>
              <a:rPr lang="en-US" b="1" dirty="0"/>
              <a:t> </a:t>
            </a:r>
            <a:r>
              <a:rPr lang="en-US" b="1" dirty="0" err="1"/>
              <a:t>tính</a:t>
            </a:r>
            <a:r>
              <a:rPr lang="en-US" b="1" dirty="0"/>
              <a:t> </a:t>
            </a:r>
            <a:r>
              <a:rPr lang="en-US" b="1" dirty="0" err="1"/>
              <a:t>hợp</a:t>
            </a:r>
            <a:r>
              <a:rPr lang="en-US" b="1" dirty="0"/>
              <a:t> </a:t>
            </a:r>
            <a:r>
              <a:rPr lang="en-US" b="1" dirty="0" err="1"/>
              <a:t>lệ</a:t>
            </a:r>
            <a:r>
              <a:rPr lang="en-US" b="1" dirty="0"/>
              <a:t> </a:t>
            </a:r>
            <a:r>
              <a:rPr lang="en-US" b="1" dirty="0" err="1"/>
              <a:t>của</a:t>
            </a:r>
            <a:r>
              <a:rPr lang="en-US" b="1" dirty="0"/>
              <a:t> </a:t>
            </a:r>
            <a:r>
              <a:rPr lang="en-US" b="1" dirty="0" err="1"/>
              <a:t>Thời</a:t>
            </a:r>
            <a:r>
              <a:rPr lang="en-US" b="1" dirty="0"/>
              <a:t> </a:t>
            </a:r>
            <a:r>
              <a:rPr lang="en-US" b="1" dirty="0" err="1"/>
              <a:t>gian</a:t>
            </a:r>
            <a:r>
              <a:rPr lang="en-US" b="1" dirty="0"/>
              <a:t>:</a:t>
            </a:r>
            <a:r>
              <a:rPr lang="en-US" dirty="0"/>
              <a:t> </a:t>
            </a:r>
            <a:r>
              <a:rPr lang="en-US" dirty="0" err="1"/>
              <a:t>Hệ</a:t>
            </a:r>
            <a:r>
              <a:rPr lang="en-US" dirty="0"/>
              <a:t> </a:t>
            </a:r>
            <a:r>
              <a:rPr lang="en-US" dirty="0" err="1"/>
              <a:t>thống</a:t>
            </a:r>
            <a:r>
              <a:rPr lang="en-US" dirty="0"/>
              <a:t> </a:t>
            </a:r>
            <a:r>
              <a:rPr lang="en-US" dirty="0" err="1"/>
              <a:t>tự</a:t>
            </a:r>
            <a:r>
              <a:rPr lang="en-US" dirty="0"/>
              <a:t> </a:t>
            </a:r>
            <a:r>
              <a:rPr lang="en-US" dirty="0" err="1"/>
              <a:t>động</a:t>
            </a:r>
            <a:r>
              <a:rPr lang="en-US" dirty="0"/>
              <a:t> </a:t>
            </a:r>
            <a:r>
              <a:rPr lang="en-US" dirty="0" err="1"/>
              <a:t>chặn</a:t>
            </a:r>
            <a:r>
              <a:rPr lang="en-US" dirty="0"/>
              <a:t> </a:t>
            </a:r>
            <a:r>
              <a:rPr lang="en-US" dirty="0" err="1"/>
              <a:t>các</a:t>
            </a:r>
            <a:r>
              <a:rPr lang="en-US" dirty="0"/>
              <a:t> </a:t>
            </a:r>
            <a:r>
              <a:rPr lang="en-US" dirty="0" err="1"/>
              <a:t>phiếu</a:t>
            </a:r>
            <a:r>
              <a:rPr lang="en-US" dirty="0"/>
              <a:t> </a:t>
            </a:r>
            <a:r>
              <a:rPr lang="en-US" dirty="0" err="1"/>
              <a:t>nhập</a:t>
            </a:r>
            <a:r>
              <a:rPr lang="en-US" dirty="0"/>
              <a:t> </a:t>
            </a:r>
            <a:r>
              <a:rPr lang="en-US" dirty="0" err="1"/>
              <a:t>kho</a:t>
            </a:r>
            <a:r>
              <a:rPr lang="en-US" dirty="0"/>
              <a:t> </a:t>
            </a:r>
            <a:r>
              <a:rPr lang="en-US" dirty="0" err="1"/>
              <a:t>có</a:t>
            </a:r>
            <a:r>
              <a:rPr lang="en-US" dirty="0"/>
              <a:t> </a:t>
            </a:r>
            <a:r>
              <a:rPr lang="en-US" dirty="0" err="1"/>
              <a:t>Hạn</a:t>
            </a:r>
            <a:r>
              <a:rPr lang="en-US" dirty="0"/>
              <a:t> </a:t>
            </a:r>
            <a:r>
              <a:rPr lang="en-US" dirty="0" err="1"/>
              <a:t>sử</a:t>
            </a:r>
            <a:r>
              <a:rPr lang="en-US" dirty="0"/>
              <a:t> </a:t>
            </a:r>
            <a:r>
              <a:rPr lang="en-US" dirty="0" err="1"/>
              <a:t>dụng</a:t>
            </a:r>
            <a:r>
              <a:rPr lang="en-US" dirty="0"/>
              <a:t> (HSD) </a:t>
            </a:r>
            <a:r>
              <a:rPr lang="en-US" dirty="0" err="1"/>
              <a:t>nhỏ</a:t>
            </a:r>
            <a:r>
              <a:rPr lang="en-US" dirty="0"/>
              <a:t> </a:t>
            </a:r>
            <a:r>
              <a:rPr lang="en-US" dirty="0" err="1"/>
              <a:t>hơn</a:t>
            </a:r>
            <a:r>
              <a:rPr lang="en-US" dirty="0"/>
              <a:t> </a:t>
            </a:r>
            <a:r>
              <a:rPr lang="en-US" dirty="0" err="1"/>
              <a:t>Ngày</a:t>
            </a:r>
            <a:r>
              <a:rPr lang="en-US" dirty="0"/>
              <a:t> </a:t>
            </a:r>
            <a:r>
              <a:rPr lang="en-US" dirty="0" err="1"/>
              <a:t>sản</a:t>
            </a:r>
            <a:r>
              <a:rPr lang="en-US" dirty="0"/>
              <a:t> </a:t>
            </a:r>
            <a:r>
              <a:rPr lang="en-US" dirty="0" err="1"/>
              <a:t>xuất</a:t>
            </a:r>
            <a:r>
              <a:rPr lang="en-US" dirty="0"/>
              <a:t> (NSX).</a:t>
            </a:r>
            <a:endParaRPr lang="vi-VN" dirty="0">
              <a:ea typeface="Source Sans Pro"/>
            </a:endParaRPr>
          </a:p>
          <a:p>
            <a:pPr marL="228600" indent="-228600">
              <a:buFont typeface="Calibri"/>
              <a:buChar char="-"/>
            </a:pPr>
            <a:r>
              <a:rPr lang="en-US" dirty="0"/>
              <a:t>🛑 </a:t>
            </a:r>
            <a:r>
              <a:rPr lang="en-US" b="1" dirty="0" err="1"/>
              <a:t>Chặn</a:t>
            </a:r>
            <a:r>
              <a:rPr lang="en-US" b="1" dirty="0"/>
              <a:t> </a:t>
            </a:r>
            <a:r>
              <a:rPr lang="en-US" b="1" dirty="0" err="1"/>
              <a:t>xuất</a:t>
            </a:r>
            <a:r>
              <a:rPr lang="en-US" b="1" dirty="0"/>
              <a:t> </a:t>
            </a:r>
            <a:r>
              <a:rPr lang="en-US" b="1" dirty="0" err="1"/>
              <a:t>kho</a:t>
            </a:r>
            <a:r>
              <a:rPr lang="en-US" b="1" dirty="0"/>
              <a:t> </a:t>
            </a:r>
            <a:r>
              <a:rPr lang="en-US" b="1" dirty="0" err="1"/>
              <a:t>số</a:t>
            </a:r>
            <a:r>
              <a:rPr lang="en-US" b="1" dirty="0"/>
              <a:t> </a:t>
            </a:r>
            <a:r>
              <a:rPr lang="en-US" b="1" dirty="0" err="1"/>
              <a:t>lượng</a:t>
            </a:r>
            <a:r>
              <a:rPr lang="en-US" b="1" dirty="0"/>
              <a:t> </a:t>
            </a:r>
            <a:r>
              <a:rPr lang="en-US" b="1" dirty="0" err="1"/>
              <a:t>âm</a:t>
            </a:r>
            <a:r>
              <a:rPr lang="en-US" b="1" dirty="0"/>
              <a:t>:</a:t>
            </a:r>
            <a:r>
              <a:rPr lang="en-US" dirty="0"/>
              <a:t> Giao </a:t>
            </a:r>
            <a:r>
              <a:rPr lang="en-US" dirty="0" err="1"/>
              <a:t>dịch</a:t>
            </a:r>
            <a:r>
              <a:rPr lang="en-US" dirty="0"/>
              <a:t> </a:t>
            </a:r>
            <a:r>
              <a:rPr lang="en-US" dirty="0" err="1"/>
              <a:t>lập</a:t>
            </a:r>
            <a:r>
              <a:rPr lang="en-US" dirty="0"/>
              <a:t> </a:t>
            </a:r>
            <a:r>
              <a:rPr lang="en-US" dirty="0" err="1"/>
              <a:t>tức</a:t>
            </a:r>
            <a:r>
              <a:rPr lang="en-US" dirty="0"/>
              <a:t> </a:t>
            </a:r>
            <a:r>
              <a:rPr lang="en-US" dirty="0" err="1"/>
              <a:t>bị</a:t>
            </a:r>
            <a:r>
              <a:rPr lang="en-US" dirty="0"/>
              <a:t> </a:t>
            </a:r>
            <a:r>
              <a:rPr lang="en-US" dirty="0" err="1"/>
              <a:t>hủy</a:t>
            </a:r>
            <a:r>
              <a:rPr lang="en-US" dirty="0"/>
              <a:t> </a:t>
            </a:r>
            <a:r>
              <a:rPr lang="en-US" dirty="0" err="1"/>
              <a:t>nếu</a:t>
            </a:r>
            <a:r>
              <a:rPr lang="en-US" dirty="0"/>
              <a:t> </a:t>
            </a:r>
            <a:r>
              <a:rPr lang="en-US" dirty="0" err="1"/>
              <a:t>số</a:t>
            </a:r>
            <a:r>
              <a:rPr lang="en-US" dirty="0"/>
              <a:t> </a:t>
            </a:r>
            <a:r>
              <a:rPr lang="en-US" dirty="0" err="1"/>
              <a:t>lượng</a:t>
            </a:r>
            <a:r>
              <a:rPr lang="en-US" dirty="0"/>
              <a:t> </a:t>
            </a:r>
            <a:r>
              <a:rPr lang="en-US" dirty="0" err="1"/>
              <a:t>yêu</a:t>
            </a:r>
            <a:r>
              <a:rPr lang="en-US" dirty="0"/>
              <a:t> </a:t>
            </a:r>
            <a:r>
              <a:rPr lang="en-US" dirty="0" err="1"/>
              <a:t>cầu</a:t>
            </a:r>
            <a:r>
              <a:rPr lang="en-US" dirty="0"/>
              <a:t> </a:t>
            </a:r>
            <a:r>
              <a:rPr lang="en-US" dirty="0" err="1"/>
              <a:t>xuất</a:t>
            </a:r>
            <a:r>
              <a:rPr lang="en-US" dirty="0"/>
              <a:t> </a:t>
            </a:r>
            <a:r>
              <a:rPr lang="en-US" dirty="0" err="1"/>
              <a:t>vượt</a:t>
            </a:r>
            <a:r>
              <a:rPr lang="en-US" dirty="0"/>
              <a:t> </a:t>
            </a:r>
            <a:r>
              <a:rPr lang="en-US" dirty="0" err="1"/>
              <a:t>quá</a:t>
            </a:r>
            <a:r>
              <a:rPr lang="en-US" dirty="0"/>
              <a:t> </a:t>
            </a:r>
            <a:r>
              <a:rPr lang="en-US" dirty="0" err="1"/>
              <a:t>tổng</a:t>
            </a:r>
            <a:r>
              <a:rPr lang="en-US" dirty="0"/>
              <a:t> </a:t>
            </a:r>
            <a:r>
              <a:rPr lang="en-US" dirty="0" err="1"/>
              <a:t>tồn</a:t>
            </a:r>
            <a:r>
              <a:rPr lang="en-US" dirty="0"/>
              <a:t> </a:t>
            </a:r>
            <a:r>
              <a:rPr lang="en-US" dirty="0" err="1"/>
              <a:t>kho</a:t>
            </a:r>
            <a:r>
              <a:rPr lang="en-US" dirty="0"/>
              <a:t> </a:t>
            </a:r>
            <a:r>
              <a:rPr lang="en-US" dirty="0" err="1"/>
              <a:t>thực</a:t>
            </a:r>
            <a:r>
              <a:rPr lang="en-US" dirty="0"/>
              <a:t> </a:t>
            </a:r>
            <a:r>
              <a:rPr lang="en-US" dirty="0" err="1"/>
              <a:t>tế</a:t>
            </a:r>
            <a:r>
              <a:rPr lang="en-US" dirty="0"/>
              <a:t> </a:t>
            </a:r>
            <a:r>
              <a:rPr lang="en-US" dirty="0" err="1"/>
              <a:t>của</a:t>
            </a:r>
            <a:r>
              <a:rPr lang="en-US" dirty="0"/>
              <a:t> </a:t>
            </a:r>
            <a:r>
              <a:rPr lang="en-US" dirty="0" err="1"/>
              <a:t>các</a:t>
            </a:r>
            <a:r>
              <a:rPr lang="en-US" dirty="0"/>
              <a:t> </a:t>
            </a:r>
            <a:r>
              <a:rPr lang="en-US" dirty="0" err="1"/>
              <a:t>lô</a:t>
            </a:r>
            <a:r>
              <a:rPr lang="en-US" dirty="0"/>
              <a:t> an </a:t>
            </a:r>
            <a:r>
              <a:rPr lang="en-US" dirty="0" err="1"/>
              <a:t>toàn</a:t>
            </a:r>
            <a:r>
              <a:rPr lang="en-US" dirty="0"/>
              <a:t>.</a:t>
            </a:r>
            <a:endParaRPr lang="en-US" dirty="0">
              <a:ea typeface="Source Sans Pro"/>
            </a:endParaRPr>
          </a:p>
          <a:p>
            <a:pPr marL="228600" indent="-228600">
              <a:buFont typeface="Calibri"/>
              <a:buChar char="-"/>
            </a:pPr>
            <a:r>
              <a:rPr lang="en-US" dirty="0"/>
              <a:t>⚠️ </a:t>
            </a:r>
            <a:r>
              <a:rPr lang="en-US" b="1" dirty="0"/>
              <a:t>Validate </a:t>
            </a:r>
            <a:r>
              <a:rPr lang="en-US" b="1" dirty="0" err="1"/>
              <a:t>Đơn</a:t>
            </a:r>
            <a:r>
              <a:rPr lang="en-US" b="1" dirty="0"/>
              <a:t> </a:t>
            </a:r>
            <a:r>
              <a:rPr lang="en-US" b="1" dirty="0" err="1"/>
              <a:t>vị</a:t>
            </a:r>
            <a:r>
              <a:rPr lang="en-US" b="1" dirty="0"/>
              <a:t> </a:t>
            </a:r>
            <a:r>
              <a:rPr lang="en-US" b="1" dirty="0" err="1"/>
              <a:t>tính</a:t>
            </a:r>
            <a:r>
              <a:rPr lang="en-US" b="1" dirty="0"/>
              <a:t> </a:t>
            </a:r>
            <a:r>
              <a:rPr lang="en-US" b="1" dirty="0" err="1"/>
              <a:t>chặt</a:t>
            </a:r>
            <a:r>
              <a:rPr lang="en-US" b="1" dirty="0"/>
              <a:t> </a:t>
            </a:r>
            <a:r>
              <a:rPr lang="en-US" b="1" dirty="0" err="1"/>
              <a:t>chẽ</a:t>
            </a:r>
            <a:r>
              <a:rPr lang="en-US" b="1" dirty="0"/>
              <a:t>:</a:t>
            </a:r>
            <a:r>
              <a:rPr lang="en-US" dirty="0"/>
              <a:t> </a:t>
            </a:r>
            <a:r>
              <a:rPr lang="en-US" dirty="0" err="1"/>
              <a:t>Hệ</a:t>
            </a:r>
            <a:r>
              <a:rPr lang="en-US" dirty="0"/>
              <a:t> </a:t>
            </a:r>
            <a:r>
              <a:rPr lang="en-US" dirty="0" err="1"/>
              <a:t>thống</a:t>
            </a:r>
            <a:r>
              <a:rPr lang="en-US" dirty="0"/>
              <a:t> </a:t>
            </a:r>
            <a:r>
              <a:rPr lang="en-US" dirty="0" err="1"/>
              <a:t>cảnh</a:t>
            </a:r>
            <a:r>
              <a:rPr lang="en-US" dirty="0"/>
              <a:t> </a:t>
            </a:r>
            <a:r>
              <a:rPr lang="en-US" dirty="0" err="1"/>
              <a:t>báo</a:t>
            </a:r>
            <a:r>
              <a:rPr lang="en-US" dirty="0"/>
              <a:t> </a:t>
            </a:r>
            <a:r>
              <a:rPr lang="en-US" dirty="0" err="1"/>
              <a:t>từ</a:t>
            </a:r>
            <a:r>
              <a:rPr lang="en-US" dirty="0"/>
              <a:t> </a:t>
            </a:r>
            <a:r>
              <a:rPr lang="en-US" dirty="0" err="1"/>
              <a:t>chối</a:t>
            </a:r>
            <a:r>
              <a:rPr lang="en-US" dirty="0"/>
              <a:t> </a:t>
            </a:r>
            <a:r>
              <a:rPr lang="en-US" dirty="0" err="1"/>
              <a:t>giao</a:t>
            </a:r>
            <a:r>
              <a:rPr lang="en-US" dirty="0"/>
              <a:t> </a:t>
            </a:r>
            <a:r>
              <a:rPr lang="en-US" dirty="0" err="1"/>
              <a:t>dịch</a:t>
            </a:r>
            <a:r>
              <a:rPr lang="en-US" dirty="0"/>
              <a:t> </a:t>
            </a:r>
            <a:r>
              <a:rPr lang="en-US" dirty="0" err="1"/>
              <a:t>nếu</a:t>
            </a:r>
            <a:r>
              <a:rPr lang="en-US" dirty="0"/>
              <a:t> </a:t>
            </a:r>
            <a:r>
              <a:rPr lang="en-US" dirty="0" err="1"/>
              <a:t>nhập</a:t>
            </a:r>
            <a:r>
              <a:rPr lang="en-US" dirty="0"/>
              <a:t> </a:t>
            </a:r>
            <a:r>
              <a:rPr lang="en-US" dirty="0" err="1"/>
              <a:t>số</a:t>
            </a:r>
            <a:r>
              <a:rPr lang="en-US" dirty="0"/>
              <a:t> </a:t>
            </a:r>
            <a:r>
              <a:rPr lang="en-US" dirty="0" err="1"/>
              <a:t>lượng</a:t>
            </a:r>
            <a:r>
              <a:rPr lang="en-US" dirty="0"/>
              <a:t> </a:t>
            </a:r>
            <a:r>
              <a:rPr lang="en-US" dirty="0" err="1"/>
              <a:t>thập</a:t>
            </a:r>
            <a:r>
              <a:rPr lang="en-US" dirty="0"/>
              <a:t> </a:t>
            </a:r>
            <a:r>
              <a:rPr lang="en-US" dirty="0" err="1"/>
              <a:t>phân</a:t>
            </a:r>
            <a:r>
              <a:rPr lang="en-US" dirty="0"/>
              <a:t> (</a:t>
            </a:r>
            <a:r>
              <a:rPr lang="en-US" dirty="0" err="1"/>
              <a:t>ví</a:t>
            </a:r>
            <a:r>
              <a:rPr lang="en-US" dirty="0"/>
              <a:t> </a:t>
            </a:r>
            <a:r>
              <a:rPr lang="en-US" dirty="0" err="1"/>
              <a:t>dụ</a:t>
            </a:r>
            <a:r>
              <a:rPr lang="en-US" dirty="0"/>
              <a:t> 5.5) </a:t>
            </a:r>
            <a:r>
              <a:rPr lang="en-US" dirty="0" err="1"/>
              <a:t>cho</a:t>
            </a:r>
            <a:r>
              <a:rPr lang="en-US" dirty="0"/>
              <a:t> </a:t>
            </a:r>
            <a:r>
              <a:rPr lang="en-US" dirty="0" err="1"/>
              <a:t>các</a:t>
            </a:r>
            <a:r>
              <a:rPr lang="en-US" dirty="0"/>
              <a:t> </a:t>
            </a:r>
            <a:r>
              <a:rPr lang="en-US" dirty="0" err="1"/>
              <a:t>mặt</a:t>
            </a:r>
            <a:r>
              <a:rPr lang="en-US" dirty="0"/>
              <a:t> </a:t>
            </a:r>
            <a:r>
              <a:rPr lang="en-US" dirty="0" err="1"/>
              <a:t>hàng</a:t>
            </a:r>
            <a:r>
              <a:rPr lang="en-US" dirty="0"/>
              <a:t> </a:t>
            </a:r>
            <a:r>
              <a:rPr lang="en-US" dirty="0" err="1"/>
              <a:t>có</a:t>
            </a:r>
            <a:r>
              <a:rPr lang="en-US" dirty="0"/>
              <a:t> </a:t>
            </a:r>
            <a:r>
              <a:rPr lang="en-US" dirty="0" err="1"/>
              <a:t>đơn</a:t>
            </a:r>
            <a:r>
              <a:rPr lang="en-US" dirty="0"/>
              <a:t> </a:t>
            </a:r>
            <a:r>
              <a:rPr lang="en-US" dirty="0" err="1"/>
              <a:t>vị</a:t>
            </a:r>
            <a:r>
              <a:rPr lang="en-US" dirty="0"/>
              <a:t> </a:t>
            </a:r>
            <a:r>
              <a:rPr lang="en-US" dirty="0" err="1"/>
              <a:t>tính</a:t>
            </a:r>
            <a:r>
              <a:rPr lang="en-US" dirty="0"/>
              <a:t> </a:t>
            </a:r>
            <a:r>
              <a:rPr lang="en-US" dirty="0" err="1"/>
              <a:t>là</a:t>
            </a:r>
            <a:r>
              <a:rPr lang="en-US" dirty="0"/>
              <a:t> </a:t>
            </a:r>
            <a:r>
              <a:rPr lang="en-US" dirty="0" err="1"/>
              <a:t>số</a:t>
            </a:r>
            <a:r>
              <a:rPr lang="en-US" dirty="0"/>
              <a:t> </a:t>
            </a:r>
            <a:r>
              <a:rPr lang="en-US" dirty="0" err="1"/>
              <a:t>nguyên</a:t>
            </a:r>
            <a:r>
              <a:rPr lang="en-US" dirty="0"/>
              <a:t> (</a:t>
            </a:r>
            <a:r>
              <a:rPr lang="en-US" dirty="0" err="1"/>
              <a:t>như</a:t>
            </a:r>
            <a:r>
              <a:rPr lang="en-US" dirty="0"/>
              <a:t> "Chai", "</a:t>
            </a:r>
            <a:r>
              <a:rPr lang="en-US" dirty="0" err="1"/>
              <a:t>Hộp</a:t>
            </a:r>
            <a:r>
              <a:rPr lang="en-US" dirty="0"/>
              <a:t>").</a:t>
            </a:r>
            <a:endParaRPr lang="en-US" dirty="0">
              <a:ea typeface="Source Sans Pro"/>
            </a:endParaRPr>
          </a:p>
          <a:p>
            <a:pPr algn="ctr"/>
            <a:endParaRPr lang="vi-VN"/>
          </a:p>
        </p:txBody>
      </p:sp>
      <p:sp>
        <p:nvSpPr>
          <p:cNvPr id="9" name="Hộp Văn bản 8">
            <a:extLst>
              <a:ext uri="{FF2B5EF4-FFF2-40B4-BE49-F238E27FC236}">
                <a16:creationId xmlns:a16="http://schemas.microsoft.com/office/drawing/2014/main" id="{2BEF5D00-02D8-17C9-4A36-639756B06263}"/>
              </a:ext>
            </a:extLst>
          </p:cNvPr>
          <p:cNvSpPr txBox="1"/>
          <p:nvPr/>
        </p:nvSpPr>
        <p:spPr>
          <a:xfrm>
            <a:off x="6095576" y="2461237"/>
            <a:ext cx="4659405"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sz="2200" b="1">
                <a:ea typeface="+mn-lt"/>
                <a:cs typeface="+mn-lt"/>
              </a:rPr>
              <a:t>Những case khó nhằn nhất mà hệ thống đã vượt qua:</a:t>
            </a:r>
            <a:endParaRPr lang="vi-VN" sz="2200" b="1">
              <a:ea typeface="Source Sans Pro"/>
            </a:endParaRPr>
          </a:p>
        </p:txBody>
      </p:sp>
      <p:sp>
        <p:nvSpPr>
          <p:cNvPr id="11" name="Hộp Văn bản 10">
            <a:extLst>
              <a:ext uri="{FF2B5EF4-FFF2-40B4-BE49-F238E27FC236}">
                <a16:creationId xmlns:a16="http://schemas.microsoft.com/office/drawing/2014/main" id="{855A0ACA-4AC2-6CDA-7F23-7BFF5E522498}"/>
              </a:ext>
            </a:extLst>
          </p:cNvPr>
          <p:cNvSpPr txBox="1"/>
          <p:nvPr/>
        </p:nvSpPr>
        <p:spPr>
          <a:xfrm>
            <a:off x="990935" y="2150679"/>
            <a:ext cx="390861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vi-VN" sz="2800">
                <a:ea typeface="Source Sans Pro"/>
              </a:rPr>
              <a:t>Kiểm thử hệ thống:</a:t>
            </a:r>
          </a:p>
        </p:txBody>
      </p:sp>
    </p:spTree>
    <p:extLst>
      <p:ext uri="{BB962C8B-B14F-4D97-AF65-F5344CB8AC3E}">
        <p14:creationId xmlns:p14="http://schemas.microsoft.com/office/powerpoint/2010/main" val="243542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AF34C8C-5379-B207-B85B-1D21C7DBC9BF}"/>
              </a:ext>
            </a:extLst>
          </p:cNvPr>
          <p:cNvSpPr>
            <a:spLocks noGrp="1"/>
          </p:cNvSpPr>
          <p:nvPr>
            <p:ph type="title"/>
          </p:nvPr>
        </p:nvSpPr>
        <p:spPr/>
        <p:txBody>
          <a:bodyPr/>
          <a:lstStyle/>
          <a:p>
            <a:pPr>
              <a:lnSpc>
                <a:spcPct val="113999"/>
              </a:lnSpc>
            </a:pPr>
            <a:r>
              <a:rPr lang="vi-VN">
                <a:ea typeface="Source Sans Pro"/>
              </a:rPr>
              <a:t>V. Đảm bảo chất lượng &amp; Tổng kế</a:t>
            </a:r>
            <a:endParaRPr lang="vi-VN"/>
          </a:p>
        </p:txBody>
      </p:sp>
      <p:sp>
        <p:nvSpPr>
          <p:cNvPr id="3" name="Chỗ dành sẵn cho Nội dung 2">
            <a:extLst>
              <a:ext uri="{FF2B5EF4-FFF2-40B4-BE49-F238E27FC236}">
                <a16:creationId xmlns:a16="http://schemas.microsoft.com/office/drawing/2014/main" id="{CB39DF56-C68C-A50E-2038-9008F92DB736}"/>
              </a:ext>
            </a:extLst>
          </p:cNvPr>
          <p:cNvSpPr>
            <a:spLocks noGrp="1"/>
          </p:cNvSpPr>
          <p:nvPr>
            <p:ph idx="1"/>
          </p:nvPr>
        </p:nvSpPr>
        <p:spPr>
          <a:xfrm>
            <a:off x="1115568" y="2108231"/>
            <a:ext cx="4845333" cy="724617"/>
          </a:xfrm>
        </p:spPr>
        <p:txBody>
          <a:bodyPr lIns="109728" tIns="109728" rIns="109728" bIns="91440" anchor="t"/>
          <a:lstStyle/>
          <a:p>
            <a:pPr marL="0" indent="0">
              <a:buNone/>
            </a:pPr>
            <a:r>
              <a:rPr lang="vi-VN">
                <a:ea typeface="Source Sans Pro"/>
              </a:rPr>
              <a:t>2.  Kết luận và hướng phát triển</a:t>
            </a:r>
          </a:p>
        </p:txBody>
      </p:sp>
      <p:sp>
        <p:nvSpPr>
          <p:cNvPr id="4" name="Hộp Văn bản 3">
            <a:extLst>
              <a:ext uri="{FF2B5EF4-FFF2-40B4-BE49-F238E27FC236}">
                <a16:creationId xmlns:a16="http://schemas.microsoft.com/office/drawing/2014/main" id="{A47BEE46-5A37-BE48-5E01-CD80C55348C5}"/>
              </a:ext>
            </a:extLst>
          </p:cNvPr>
          <p:cNvSpPr txBox="1"/>
          <p:nvPr/>
        </p:nvSpPr>
        <p:spPr>
          <a:xfrm>
            <a:off x="1550457" y="2880750"/>
            <a:ext cx="351640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sz="2000" b="1">
                <a:ea typeface="+mn-lt"/>
                <a:cs typeface="+mn-lt"/>
              </a:rPr>
              <a:t>Đánh giá trạng thái hệ thống:</a:t>
            </a:r>
            <a:endParaRPr lang="vi-VN" sz="2000">
              <a:ea typeface="Source Sans Pro"/>
            </a:endParaRPr>
          </a:p>
        </p:txBody>
      </p:sp>
      <p:sp>
        <p:nvSpPr>
          <p:cNvPr id="5" name="Hộp Văn bản 4">
            <a:extLst>
              <a:ext uri="{FF2B5EF4-FFF2-40B4-BE49-F238E27FC236}">
                <a16:creationId xmlns:a16="http://schemas.microsoft.com/office/drawing/2014/main" id="{56B43096-A52F-BFCE-C84D-A66A8504DA28}"/>
              </a:ext>
            </a:extLst>
          </p:cNvPr>
          <p:cNvSpPr txBox="1"/>
          <p:nvPr/>
        </p:nvSpPr>
        <p:spPr>
          <a:xfrm>
            <a:off x="7269115" y="2878495"/>
            <a:ext cx="366208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sz="2000" b="1">
                <a:ea typeface="+mn-lt"/>
                <a:cs typeface="+mn-lt"/>
              </a:rPr>
              <a:t>Định hướng nâng cấp tương lai:</a:t>
            </a:r>
            <a:endParaRPr lang="vi-VN" sz="2000" b="1">
              <a:ea typeface="Source Sans Pro"/>
            </a:endParaRPr>
          </a:p>
        </p:txBody>
      </p:sp>
      <p:sp>
        <p:nvSpPr>
          <p:cNvPr id="6" name="Hộp Văn bản 5">
            <a:extLst>
              <a:ext uri="{FF2B5EF4-FFF2-40B4-BE49-F238E27FC236}">
                <a16:creationId xmlns:a16="http://schemas.microsoft.com/office/drawing/2014/main" id="{505AA152-9FCE-A616-C0E5-BB70D7777A83}"/>
              </a:ext>
            </a:extLst>
          </p:cNvPr>
          <p:cNvSpPr txBox="1"/>
          <p:nvPr/>
        </p:nvSpPr>
        <p:spPr>
          <a:xfrm>
            <a:off x="1255059" y="3283324"/>
            <a:ext cx="4840942"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 +) </a:t>
            </a:r>
            <a:r>
              <a:rPr lang="en-US" b="1" dirty="0" err="1"/>
              <a:t>Hoạt</a:t>
            </a:r>
            <a:r>
              <a:rPr lang="en-US" b="1" dirty="0"/>
              <a:t> </a:t>
            </a:r>
            <a:r>
              <a:rPr lang="en-US" b="1" dirty="0" err="1"/>
              <a:t>động</a:t>
            </a:r>
            <a:r>
              <a:rPr lang="en-US" b="1" dirty="0"/>
              <a:t> </a:t>
            </a:r>
            <a:r>
              <a:rPr lang="en-US" b="1" dirty="0" err="1"/>
              <a:t>chuẩn</a:t>
            </a:r>
            <a:r>
              <a:rPr lang="en-US" b="1" dirty="0"/>
              <a:t> </a:t>
            </a:r>
            <a:r>
              <a:rPr lang="en-US" b="1" dirty="0" err="1"/>
              <a:t>xác</a:t>
            </a:r>
            <a:r>
              <a:rPr lang="en-US" b="1" dirty="0"/>
              <a:t>:</a:t>
            </a:r>
            <a:r>
              <a:rPr lang="en-US" dirty="0"/>
              <a:t> </a:t>
            </a:r>
            <a:r>
              <a:rPr lang="en-US" dirty="0" err="1"/>
              <a:t>Hệ</a:t>
            </a:r>
            <a:r>
              <a:rPr lang="en-US" dirty="0"/>
              <a:t> </a:t>
            </a:r>
            <a:r>
              <a:rPr lang="en-US" dirty="0" err="1"/>
              <a:t>thống</a:t>
            </a:r>
            <a:r>
              <a:rPr lang="en-US" dirty="0"/>
              <a:t> </a:t>
            </a:r>
            <a:r>
              <a:rPr lang="en-US" dirty="0" err="1"/>
              <a:t>FreshCare</a:t>
            </a:r>
            <a:r>
              <a:rPr lang="en-US" dirty="0"/>
              <a:t> </a:t>
            </a:r>
            <a:r>
              <a:rPr lang="en-US" dirty="0" err="1"/>
              <a:t>vận</a:t>
            </a:r>
            <a:r>
              <a:rPr lang="en-US" dirty="0"/>
              <a:t> </a:t>
            </a:r>
            <a:r>
              <a:rPr lang="en-US" dirty="0" err="1"/>
              <a:t>hành</a:t>
            </a:r>
            <a:r>
              <a:rPr lang="en-US" dirty="0"/>
              <a:t> </a:t>
            </a:r>
            <a:r>
              <a:rPr lang="en-US" dirty="0" err="1"/>
              <a:t>ổn</a:t>
            </a:r>
            <a:r>
              <a:rPr lang="en-US" dirty="0"/>
              <a:t> </a:t>
            </a:r>
            <a:r>
              <a:rPr lang="en-US" dirty="0" err="1"/>
              <a:t>định</a:t>
            </a:r>
            <a:r>
              <a:rPr lang="en-US" dirty="0"/>
              <a:t> </a:t>
            </a:r>
            <a:r>
              <a:rPr lang="en-US" dirty="0" err="1"/>
              <a:t>trên</a:t>
            </a:r>
            <a:r>
              <a:rPr lang="en-US" dirty="0"/>
              <a:t> </a:t>
            </a:r>
            <a:r>
              <a:rPr lang="en-US" dirty="0" err="1"/>
              <a:t>nền</a:t>
            </a:r>
            <a:r>
              <a:rPr lang="en-US" dirty="0"/>
              <a:t> </a:t>
            </a:r>
            <a:r>
              <a:rPr lang="en-US" dirty="0" err="1"/>
              <a:t>tảng</a:t>
            </a:r>
            <a:r>
              <a:rPr lang="en-US" dirty="0"/>
              <a:t> ASP.NET Core MVC,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mạnh</a:t>
            </a:r>
            <a:r>
              <a:rPr lang="en-US" dirty="0"/>
              <a:t> </a:t>
            </a:r>
            <a:r>
              <a:rPr lang="en-US" dirty="0" err="1"/>
              <a:t>mẽ</a:t>
            </a:r>
            <a:r>
              <a:rPr lang="en-US" dirty="0"/>
              <a:t> </a:t>
            </a:r>
            <a:r>
              <a:rPr lang="en-US" dirty="0" err="1"/>
              <a:t>với</a:t>
            </a:r>
            <a:r>
              <a:rPr lang="en-US" dirty="0"/>
              <a:t> ADO.NET </a:t>
            </a:r>
            <a:r>
              <a:rPr lang="en-US" dirty="0" err="1"/>
              <a:t>thuần</a:t>
            </a:r>
            <a:r>
              <a:rPr lang="en-US" dirty="0"/>
              <a:t>.</a:t>
            </a:r>
            <a:endParaRPr lang="vi-VN" dirty="0"/>
          </a:p>
          <a:p>
            <a:endParaRPr lang="en-US" dirty="0">
              <a:ea typeface="Source Sans Pro"/>
            </a:endParaRPr>
          </a:p>
          <a:p>
            <a:r>
              <a:rPr lang="en-US" b="1" dirty="0"/>
              <a:t> +) </a:t>
            </a:r>
            <a:r>
              <a:rPr lang="en-US" b="1" dirty="0" err="1"/>
              <a:t>Thực</a:t>
            </a:r>
            <a:r>
              <a:rPr lang="en-US" b="1" dirty="0"/>
              <a:t> </a:t>
            </a:r>
            <a:r>
              <a:rPr lang="en-US" b="1" dirty="0" err="1"/>
              <a:t>thi</a:t>
            </a:r>
            <a:r>
              <a:rPr lang="en-US" b="1" dirty="0"/>
              <a:t> </a:t>
            </a:r>
            <a:r>
              <a:rPr lang="en-US" b="1" dirty="0" err="1"/>
              <a:t>thành</a:t>
            </a:r>
            <a:r>
              <a:rPr lang="en-US" b="1" dirty="0"/>
              <a:t> </a:t>
            </a:r>
            <a:r>
              <a:rPr lang="en-US" b="1" dirty="0" err="1"/>
              <a:t>công</a:t>
            </a:r>
            <a:r>
              <a:rPr lang="en-US" b="1" dirty="0"/>
              <a:t> FEFO:</a:t>
            </a:r>
            <a:r>
              <a:rPr lang="en-US" dirty="0"/>
              <a:t> </a:t>
            </a:r>
            <a:r>
              <a:rPr lang="en-US" dirty="0" err="1"/>
              <a:t>Luồng</a:t>
            </a:r>
            <a:r>
              <a:rPr lang="en-US" dirty="0"/>
              <a:t> </a:t>
            </a:r>
            <a:r>
              <a:rPr lang="en-US" dirty="0" err="1"/>
              <a:t>nghiệp</a:t>
            </a:r>
            <a:r>
              <a:rPr lang="en-US" dirty="0"/>
              <a:t> </a:t>
            </a:r>
            <a:r>
              <a:rPr lang="en-US" dirty="0" err="1"/>
              <a:t>vụ</a:t>
            </a:r>
            <a:r>
              <a:rPr lang="en-US" dirty="0"/>
              <a:t> </a:t>
            </a:r>
            <a:r>
              <a:rPr lang="en-US" dirty="0" err="1"/>
              <a:t>xuất</a:t>
            </a:r>
            <a:r>
              <a:rPr lang="en-US" dirty="0"/>
              <a:t> </a:t>
            </a:r>
            <a:r>
              <a:rPr lang="en-US" dirty="0" err="1"/>
              <a:t>kho</a:t>
            </a:r>
            <a:r>
              <a:rPr lang="en-US" dirty="0"/>
              <a:t> </a:t>
            </a:r>
            <a:r>
              <a:rPr lang="en-US" dirty="0" err="1"/>
              <a:t>và</a:t>
            </a:r>
            <a:r>
              <a:rPr lang="en-US" dirty="0"/>
              <a:t> </a:t>
            </a:r>
            <a:r>
              <a:rPr lang="en-US" dirty="0" err="1"/>
              <a:t>tính</a:t>
            </a:r>
            <a:r>
              <a:rPr lang="en-US" dirty="0"/>
              <a:t> </a:t>
            </a:r>
            <a:r>
              <a:rPr lang="en-US" dirty="0" err="1"/>
              <a:t>giá</a:t>
            </a:r>
            <a:r>
              <a:rPr lang="en-US" dirty="0"/>
              <a:t> Sale </a:t>
            </a:r>
            <a:r>
              <a:rPr lang="en-US" dirty="0" err="1"/>
              <a:t>cận</a:t>
            </a:r>
            <a:r>
              <a:rPr lang="en-US" dirty="0"/>
              <a:t> date </a:t>
            </a:r>
            <a:r>
              <a:rPr lang="en-US" dirty="0" err="1"/>
              <a:t>tự</a:t>
            </a:r>
            <a:r>
              <a:rPr lang="en-US" dirty="0"/>
              <a:t> </a:t>
            </a:r>
            <a:r>
              <a:rPr lang="en-US" dirty="0" err="1"/>
              <a:t>động</a:t>
            </a:r>
            <a:r>
              <a:rPr lang="en-US" dirty="0"/>
              <a:t> </a:t>
            </a:r>
            <a:r>
              <a:rPr lang="en-US" dirty="0" err="1"/>
              <a:t>đã</a:t>
            </a:r>
            <a:r>
              <a:rPr lang="en-US" dirty="0"/>
              <a:t> </a:t>
            </a:r>
            <a:r>
              <a:rPr lang="en-US" dirty="0" err="1"/>
              <a:t>được</a:t>
            </a:r>
            <a:r>
              <a:rPr lang="en-US" dirty="0"/>
              <a:t> </a:t>
            </a:r>
            <a:r>
              <a:rPr lang="en-US" dirty="0" err="1"/>
              <a:t>tích</a:t>
            </a:r>
            <a:r>
              <a:rPr lang="en-US" dirty="0"/>
              <a:t> </a:t>
            </a:r>
            <a:r>
              <a:rPr lang="en-US" dirty="0" err="1"/>
              <a:t>hợp</a:t>
            </a:r>
            <a:r>
              <a:rPr lang="en-US" dirty="0"/>
              <a:t> </a:t>
            </a:r>
            <a:r>
              <a:rPr lang="en-US" dirty="0" err="1"/>
              <a:t>hoàn</a:t>
            </a:r>
            <a:r>
              <a:rPr lang="en-US" dirty="0"/>
              <a:t> </a:t>
            </a:r>
            <a:r>
              <a:rPr lang="en-US" dirty="0" err="1"/>
              <a:t>chỉnh</a:t>
            </a:r>
            <a:r>
              <a:rPr lang="en-US" dirty="0"/>
              <a:t> </a:t>
            </a:r>
            <a:r>
              <a:rPr lang="en-US" dirty="0" err="1"/>
              <a:t>và</a:t>
            </a:r>
            <a:r>
              <a:rPr lang="en-US" dirty="0"/>
              <a:t> </a:t>
            </a:r>
            <a:r>
              <a:rPr lang="en-US" dirty="0" err="1"/>
              <a:t>chạy</a:t>
            </a:r>
            <a:r>
              <a:rPr lang="en-US" dirty="0"/>
              <a:t> </a:t>
            </a:r>
            <a:r>
              <a:rPr lang="en-US" dirty="0" err="1"/>
              <a:t>đúng</a:t>
            </a:r>
            <a:r>
              <a:rPr lang="en-US" dirty="0"/>
              <a:t> </a:t>
            </a:r>
            <a:r>
              <a:rPr lang="en-US" dirty="0" err="1"/>
              <a:t>quy</a:t>
            </a:r>
            <a:r>
              <a:rPr lang="en-US" dirty="0"/>
              <a:t> </a:t>
            </a:r>
            <a:r>
              <a:rPr lang="en-US" dirty="0" err="1"/>
              <a:t>tắc</a:t>
            </a:r>
            <a:r>
              <a:rPr lang="en-US" dirty="0"/>
              <a:t>.</a:t>
            </a:r>
            <a:endParaRPr lang="en-US" dirty="0">
              <a:ea typeface="Source Sans Pro"/>
            </a:endParaRPr>
          </a:p>
          <a:p>
            <a:endParaRPr lang="en-US" dirty="0"/>
          </a:p>
          <a:p>
            <a:r>
              <a:rPr lang="en-US" b="1" dirty="0"/>
              <a:t> +) Bảo </a:t>
            </a:r>
            <a:r>
              <a:rPr lang="en-US" b="1" dirty="0" err="1"/>
              <a:t>vệ</a:t>
            </a:r>
            <a:r>
              <a:rPr lang="en-US" b="1" dirty="0"/>
              <a:t> </a:t>
            </a:r>
            <a:r>
              <a:rPr lang="en-US" b="1" dirty="0" err="1"/>
              <a:t>toàn</a:t>
            </a:r>
            <a:r>
              <a:rPr lang="en-US" b="1" dirty="0"/>
              <a:t> </a:t>
            </a:r>
            <a:r>
              <a:rPr lang="en-US" b="1" dirty="0" err="1"/>
              <a:t>vẹn</a:t>
            </a:r>
            <a:r>
              <a:rPr lang="en-US" b="1" dirty="0"/>
              <a:t> </a:t>
            </a:r>
            <a:r>
              <a:rPr lang="en-US" b="1" dirty="0" err="1"/>
              <a:t>dữ</a:t>
            </a:r>
            <a:r>
              <a:rPr lang="en-US" b="1" dirty="0"/>
              <a:t> </a:t>
            </a:r>
            <a:r>
              <a:rPr lang="en-US" b="1" dirty="0" err="1"/>
              <a:t>liệu</a:t>
            </a:r>
            <a:r>
              <a:rPr lang="en-US" b="1" dirty="0"/>
              <a:t>:</a:t>
            </a:r>
            <a:r>
              <a:rPr lang="en-US" dirty="0"/>
              <a:t> </a:t>
            </a:r>
            <a:r>
              <a:rPr lang="en-US" dirty="0" err="1"/>
              <a:t>Không</a:t>
            </a:r>
            <a:r>
              <a:rPr lang="en-US" dirty="0"/>
              <a:t> </a:t>
            </a:r>
            <a:r>
              <a:rPr lang="en-US" dirty="0" err="1"/>
              <a:t>sử</a:t>
            </a:r>
            <a:r>
              <a:rPr lang="en-US" dirty="0"/>
              <a:t> </a:t>
            </a:r>
            <a:r>
              <a:rPr lang="en-US" dirty="0" err="1"/>
              <a:t>dụng</a:t>
            </a:r>
            <a:r>
              <a:rPr lang="en-US" dirty="0"/>
              <a:t> </a:t>
            </a:r>
            <a:r>
              <a:rPr lang="en-US" dirty="0" err="1"/>
              <a:t>lệnh</a:t>
            </a:r>
            <a:r>
              <a:rPr lang="en-US" dirty="0"/>
              <a:t> DELETE, </a:t>
            </a:r>
            <a:r>
              <a:rPr lang="en-US" dirty="0" err="1"/>
              <a:t>luồng</a:t>
            </a:r>
            <a:r>
              <a:rPr lang="en-US" dirty="0"/>
              <a:t> Bán </a:t>
            </a:r>
            <a:r>
              <a:rPr lang="en-US" dirty="0" err="1"/>
              <a:t>hàng</a:t>
            </a:r>
            <a:r>
              <a:rPr lang="en-US" dirty="0"/>
              <a:t> </a:t>
            </a:r>
            <a:r>
              <a:rPr lang="en-US" dirty="0" err="1"/>
              <a:t>và</a:t>
            </a:r>
            <a:r>
              <a:rPr lang="en-US" dirty="0"/>
              <a:t> </a:t>
            </a:r>
            <a:r>
              <a:rPr lang="en-US" dirty="0" err="1"/>
              <a:t>Hủy</a:t>
            </a:r>
            <a:r>
              <a:rPr lang="en-US" dirty="0"/>
              <a:t> </a:t>
            </a:r>
            <a:r>
              <a:rPr lang="en-US" dirty="0" err="1"/>
              <a:t>hàng</a:t>
            </a:r>
            <a:r>
              <a:rPr lang="en-US" dirty="0"/>
              <a:t> </a:t>
            </a:r>
            <a:r>
              <a:rPr lang="en-US" dirty="0" err="1"/>
              <a:t>được</a:t>
            </a:r>
            <a:r>
              <a:rPr lang="en-US" dirty="0"/>
              <a:t> </a:t>
            </a:r>
            <a:r>
              <a:rPr lang="en-US" dirty="0" err="1"/>
              <a:t>phân</a:t>
            </a:r>
            <a:r>
              <a:rPr lang="en-US" dirty="0"/>
              <a:t> </a:t>
            </a:r>
            <a:r>
              <a:rPr lang="en-US" dirty="0" err="1"/>
              <a:t>tách</a:t>
            </a:r>
            <a:r>
              <a:rPr lang="en-US" dirty="0"/>
              <a:t> </a:t>
            </a:r>
            <a:r>
              <a:rPr lang="en-US" dirty="0" err="1"/>
              <a:t>rõ</a:t>
            </a:r>
            <a:r>
              <a:rPr lang="en-US" dirty="0"/>
              <a:t> </a:t>
            </a:r>
            <a:r>
              <a:rPr lang="en-US" dirty="0" err="1"/>
              <a:t>rệt</a:t>
            </a:r>
            <a:r>
              <a:rPr lang="en-US" dirty="0"/>
              <a:t> </a:t>
            </a:r>
            <a:r>
              <a:rPr lang="en-US" dirty="0" err="1"/>
              <a:t>để</a:t>
            </a:r>
            <a:r>
              <a:rPr lang="en-US" dirty="0"/>
              <a:t> </a:t>
            </a:r>
            <a:r>
              <a:rPr lang="en-US" dirty="0" err="1"/>
              <a:t>bảo</a:t>
            </a:r>
            <a:r>
              <a:rPr lang="en-US" dirty="0"/>
              <a:t> </a:t>
            </a:r>
            <a:r>
              <a:rPr lang="en-US" dirty="0" err="1"/>
              <a:t>vệ</a:t>
            </a:r>
            <a:r>
              <a:rPr lang="en-US" dirty="0"/>
              <a:t> </a:t>
            </a:r>
            <a:r>
              <a:rPr lang="en-US" dirty="0" err="1"/>
              <a:t>số</a:t>
            </a:r>
            <a:r>
              <a:rPr lang="en-US" dirty="0"/>
              <a:t> </a:t>
            </a:r>
            <a:r>
              <a:rPr lang="en-US" dirty="0" err="1"/>
              <a:t>liệu</a:t>
            </a:r>
            <a:r>
              <a:rPr lang="en-US" dirty="0"/>
              <a:t> </a:t>
            </a:r>
            <a:r>
              <a:rPr lang="en-US" dirty="0" err="1"/>
              <a:t>kế</a:t>
            </a:r>
            <a:r>
              <a:rPr lang="en-US" dirty="0"/>
              <a:t> </a:t>
            </a:r>
            <a:r>
              <a:rPr lang="en-US" dirty="0" err="1"/>
              <a:t>toán</a:t>
            </a:r>
            <a:r>
              <a:rPr lang="en-US" dirty="0"/>
              <a:t>.</a:t>
            </a:r>
            <a:endParaRPr lang="en-US" dirty="0">
              <a:ea typeface="Source Sans Pro"/>
            </a:endParaRPr>
          </a:p>
          <a:p>
            <a:pPr algn="ctr"/>
            <a:endParaRPr lang="vi-VN"/>
          </a:p>
        </p:txBody>
      </p:sp>
      <p:sp>
        <p:nvSpPr>
          <p:cNvPr id="7" name="Hộp Văn bản 6">
            <a:extLst>
              <a:ext uri="{FF2B5EF4-FFF2-40B4-BE49-F238E27FC236}">
                <a16:creationId xmlns:a16="http://schemas.microsoft.com/office/drawing/2014/main" id="{46EC9843-1CCC-4D12-4AAF-641E480FEFF2}"/>
              </a:ext>
            </a:extLst>
          </p:cNvPr>
          <p:cNvSpPr txBox="1"/>
          <p:nvPr/>
        </p:nvSpPr>
        <p:spPr>
          <a:xfrm>
            <a:off x="6846793" y="3283323"/>
            <a:ext cx="449356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a:t>
            </a:r>
            <a:r>
              <a:rPr lang="en-US" b="1" dirty="0"/>
              <a:t>+)</a:t>
            </a:r>
            <a:r>
              <a:rPr lang="en-US" dirty="0"/>
              <a:t>📱 </a:t>
            </a:r>
            <a:r>
              <a:rPr lang="en-US" b="1" dirty="0"/>
              <a:t>Mobile App Quản </a:t>
            </a:r>
            <a:r>
              <a:rPr lang="en-US" b="1" dirty="0" err="1"/>
              <a:t>lý</a:t>
            </a:r>
            <a:r>
              <a:rPr lang="en-US" b="1" dirty="0"/>
              <a:t>:</a:t>
            </a:r>
            <a:r>
              <a:rPr lang="en-US" dirty="0"/>
              <a:t> </a:t>
            </a:r>
            <a:r>
              <a:rPr lang="en-US" dirty="0" err="1"/>
              <a:t>Phát</a:t>
            </a:r>
            <a:r>
              <a:rPr lang="en-US" dirty="0"/>
              <a:t> </a:t>
            </a:r>
            <a:r>
              <a:rPr lang="en-US" dirty="0" err="1"/>
              <a:t>triển</a:t>
            </a:r>
            <a:r>
              <a:rPr lang="en-US" dirty="0"/>
              <a:t> </a:t>
            </a:r>
            <a:r>
              <a:rPr lang="en-US" dirty="0" err="1"/>
              <a:t>ứng</a:t>
            </a:r>
            <a:r>
              <a:rPr lang="en-US" dirty="0"/>
              <a:t> </a:t>
            </a:r>
            <a:r>
              <a:rPr lang="en-US" dirty="0" err="1"/>
              <a:t>dụng</a:t>
            </a:r>
            <a:r>
              <a:rPr lang="en-US" dirty="0"/>
              <a:t> di </a:t>
            </a:r>
            <a:r>
              <a:rPr lang="en-US" dirty="0" err="1"/>
              <a:t>động</a:t>
            </a:r>
            <a:r>
              <a:rPr lang="en-US" dirty="0"/>
              <a:t> </a:t>
            </a:r>
            <a:r>
              <a:rPr lang="en-US" dirty="0" err="1"/>
              <a:t>giúp</a:t>
            </a:r>
            <a:r>
              <a:rPr lang="en-US" dirty="0"/>
              <a:t> </a:t>
            </a:r>
            <a:r>
              <a:rPr lang="en-US" dirty="0" err="1"/>
              <a:t>chủ</a:t>
            </a:r>
            <a:r>
              <a:rPr lang="en-US" dirty="0"/>
              <a:t> </a:t>
            </a:r>
            <a:r>
              <a:rPr lang="en-US" dirty="0" err="1"/>
              <a:t>cửa</a:t>
            </a:r>
            <a:r>
              <a:rPr lang="en-US" dirty="0"/>
              <a:t> </a:t>
            </a:r>
            <a:r>
              <a:rPr lang="en-US" dirty="0" err="1"/>
              <a:t>hàng</a:t>
            </a:r>
            <a:r>
              <a:rPr lang="en-US" dirty="0"/>
              <a:t> </a:t>
            </a:r>
            <a:r>
              <a:rPr lang="en-US" dirty="0" err="1"/>
              <a:t>quản</a:t>
            </a:r>
            <a:r>
              <a:rPr lang="en-US" dirty="0"/>
              <a:t> </a:t>
            </a:r>
            <a:r>
              <a:rPr lang="en-US" dirty="0" err="1"/>
              <a:t>lý</a:t>
            </a:r>
            <a:r>
              <a:rPr lang="en-US" dirty="0"/>
              <a:t> </a:t>
            </a:r>
            <a:r>
              <a:rPr lang="en-US" dirty="0" err="1"/>
              <a:t>doanh</a:t>
            </a:r>
            <a:r>
              <a:rPr lang="en-US" dirty="0"/>
              <a:t> </a:t>
            </a:r>
            <a:r>
              <a:rPr lang="en-US" dirty="0" err="1"/>
              <a:t>thu</a:t>
            </a:r>
            <a:r>
              <a:rPr lang="en-US" dirty="0"/>
              <a:t> </a:t>
            </a:r>
            <a:r>
              <a:rPr lang="en-US" dirty="0" err="1"/>
              <a:t>và</a:t>
            </a:r>
            <a:r>
              <a:rPr lang="en-US" dirty="0"/>
              <a:t> </a:t>
            </a:r>
            <a:r>
              <a:rPr lang="en-US" dirty="0" err="1"/>
              <a:t>tồn</a:t>
            </a:r>
            <a:r>
              <a:rPr lang="en-US" dirty="0"/>
              <a:t> </a:t>
            </a:r>
            <a:r>
              <a:rPr lang="en-US" dirty="0" err="1"/>
              <a:t>kho</a:t>
            </a:r>
            <a:r>
              <a:rPr lang="en-US" dirty="0"/>
              <a:t> </a:t>
            </a:r>
            <a:r>
              <a:rPr lang="en-US" dirty="0" err="1"/>
              <a:t>từ</a:t>
            </a:r>
            <a:r>
              <a:rPr lang="en-US" dirty="0"/>
              <a:t> xa.</a:t>
            </a:r>
            <a:endParaRPr lang="vi-VN" dirty="0"/>
          </a:p>
          <a:p>
            <a:endParaRPr lang="en-US" dirty="0"/>
          </a:p>
          <a:p>
            <a:r>
              <a:rPr lang="en-US" b="1" dirty="0"/>
              <a:t> +)</a:t>
            </a:r>
            <a:r>
              <a:rPr lang="en-US" dirty="0"/>
              <a:t>📠 </a:t>
            </a:r>
            <a:r>
              <a:rPr lang="en-US" b="1" dirty="0" err="1"/>
              <a:t>Tích</a:t>
            </a:r>
            <a:r>
              <a:rPr lang="en-US" b="1" dirty="0"/>
              <a:t> </a:t>
            </a:r>
            <a:r>
              <a:rPr lang="en-US" b="1" dirty="0" err="1"/>
              <a:t>hợp</a:t>
            </a:r>
            <a:r>
              <a:rPr lang="en-US" b="1" dirty="0"/>
              <a:t> Barcode Scanner:</a:t>
            </a:r>
            <a:r>
              <a:rPr lang="en-US" dirty="0"/>
              <a:t> </a:t>
            </a:r>
            <a:r>
              <a:rPr lang="en-US" dirty="0" err="1"/>
              <a:t>Tích</a:t>
            </a:r>
            <a:r>
              <a:rPr lang="en-US" dirty="0"/>
              <a:t> </a:t>
            </a:r>
            <a:r>
              <a:rPr lang="en-US" dirty="0" err="1"/>
              <a:t>hợp</a:t>
            </a:r>
            <a:r>
              <a:rPr lang="en-US" dirty="0"/>
              <a:t> </a:t>
            </a:r>
            <a:r>
              <a:rPr lang="en-US" dirty="0" err="1"/>
              <a:t>máy</a:t>
            </a:r>
            <a:r>
              <a:rPr lang="en-US" dirty="0"/>
              <a:t> </a:t>
            </a:r>
            <a:r>
              <a:rPr lang="en-US" dirty="0" err="1"/>
              <a:t>quét</a:t>
            </a:r>
            <a:r>
              <a:rPr lang="en-US" dirty="0"/>
              <a:t> </a:t>
            </a:r>
            <a:r>
              <a:rPr lang="en-US" dirty="0" err="1"/>
              <a:t>mã</a:t>
            </a:r>
            <a:r>
              <a:rPr lang="en-US" dirty="0"/>
              <a:t> </a:t>
            </a:r>
            <a:r>
              <a:rPr lang="en-US" dirty="0" err="1"/>
              <a:t>vạch</a:t>
            </a:r>
            <a:r>
              <a:rPr lang="en-US" dirty="0"/>
              <a:t> </a:t>
            </a:r>
            <a:r>
              <a:rPr lang="en-US" dirty="0" err="1"/>
              <a:t>phần</a:t>
            </a:r>
            <a:r>
              <a:rPr lang="en-US" dirty="0"/>
              <a:t> </a:t>
            </a:r>
            <a:r>
              <a:rPr lang="en-US" dirty="0" err="1"/>
              <a:t>cứng</a:t>
            </a:r>
            <a:r>
              <a:rPr lang="en-US" dirty="0"/>
              <a:t> </a:t>
            </a:r>
            <a:r>
              <a:rPr lang="en-US" dirty="0" err="1"/>
              <a:t>để</a:t>
            </a:r>
            <a:r>
              <a:rPr lang="en-US" dirty="0"/>
              <a:t> </a:t>
            </a:r>
            <a:r>
              <a:rPr lang="en-US" dirty="0" err="1"/>
              <a:t>đẩy</a:t>
            </a:r>
            <a:r>
              <a:rPr lang="en-US" dirty="0"/>
              <a:t> </a:t>
            </a:r>
            <a:r>
              <a:rPr lang="en-US" dirty="0" err="1"/>
              <a:t>nhanh</a:t>
            </a:r>
            <a:r>
              <a:rPr lang="en-US" dirty="0"/>
              <a:t> </a:t>
            </a:r>
            <a:r>
              <a:rPr lang="en-US" dirty="0" err="1"/>
              <a:t>tốc</a:t>
            </a:r>
            <a:r>
              <a:rPr lang="en-US" dirty="0"/>
              <a:t> </a:t>
            </a:r>
            <a:r>
              <a:rPr lang="en-US" dirty="0" err="1"/>
              <a:t>độ</a:t>
            </a:r>
            <a:r>
              <a:rPr lang="en-US" dirty="0"/>
              <a:t> </a:t>
            </a:r>
            <a:r>
              <a:rPr lang="en-US" dirty="0" err="1"/>
              <a:t>thanh</a:t>
            </a:r>
            <a:r>
              <a:rPr lang="en-US" dirty="0"/>
              <a:t> </a:t>
            </a:r>
            <a:r>
              <a:rPr lang="en-US" dirty="0" err="1"/>
              <a:t>toán</a:t>
            </a:r>
            <a:r>
              <a:rPr lang="en-US" dirty="0"/>
              <a:t> </a:t>
            </a:r>
            <a:r>
              <a:rPr lang="en-US" dirty="0" err="1"/>
              <a:t>tại</a:t>
            </a:r>
            <a:r>
              <a:rPr lang="en-US" dirty="0"/>
              <a:t> </a:t>
            </a:r>
            <a:r>
              <a:rPr lang="en-US" dirty="0" err="1"/>
              <a:t>quầy</a:t>
            </a:r>
            <a:r>
              <a:rPr lang="en-US" dirty="0"/>
              <a:t>.</a:t>
            </a:r>
            <a:endParaRPr lang="en-US" dirty="0">
              <a:ea typeface="Source Sans Pro"/>
            </a:endParaRPr>
          </a:p>
          <a:p>
            <a:endParaRPr lang="en-US" dirty="0"/>
          </a:p>
          <a:p>
            <a:r>
              <a:rPr lang="en-US" b="1" dirty="0"/>
              <a:t> +)</a:t>
            </a:r>
            <a:r>
              <a:rPr lang="en-US" dirty="0"/>
              <a:t>📩 </a:t>
            </a:r>
            <a:r>
              <a:rPr lang="en-US" b="1" dirty="0" err="1"/>
              <a:t>Hệ</a:t>
            </a:r>
            <a:r>
              <a:rPr lang="en-US" b="1" dirty="0"/>
              <a:t> </a:t>
            </a:r>
            <a:r>
              <a:rPr lang="en-US" b="1" dirty="0" err="1"/>
              <a:t>thống</a:t>
            </a:r>
            <a:r>
              <a:rPr lang="en-US" b="1" dirty="0"/>
              <a:t> Alert </a:t>
            </a:r>
            <a:r>
              <a:rPr lang="en-US" b="1" dirty="0" err="1"/>
              <a:t>tự</a:t>
            </a:r>
            <a:r>
              <a:rPr lang="en-US" b="1" dirty="0"/>
              <a:t> </a:t>
            </a:r>
            <a:r>
              <a:rPr lang="en-US" b="1" dirty="0" err="1"/>
              <a:t>động</a:t>
            </a:r>
            <a:r>
              <a:rPr lang="en-US" b="1" dirty="0"/>
              <a:t>:</a:t>
            </a:r>
            <a:r>
              <a:rPr lang="en-US" dirty="0"/>
              <a:t> </a:t>
            </a:r>
            <a:r>
              <a:rPr lang="en-US" dirty="0" err="1"/>
              <a:t>Nâng</a:t>
            </a:r>
            <a:r>
              <a:rPr lang="en-US" dirty="0"/>
              <a:t> </a:t>
            </a:r>
            <a:r>
              <a:rPr lang="en-US" dirty="0" err="1"/>
              <a:t>cấp</a:t>
            </a:r>
            <a:r>
              <a:rPr lang="en-US" dirty="0"/>
              <a:t> </a:t>
            </a:r>
            <a:r>
              <a:rPr lang="en-US" dirty="0" err="1"/>
              <a:t>tính</a:t>
            </a:r>
            <a:r>
              <a:rPr lang="en-US" dirty="0"/>
              <a:t> </a:t>
            </a:r>
            <a:r>
              <a:rPr lang="en-US" dirty="0" err="1"/>
              <a:t>năng</a:t>
            </a:r>
            <a:r>
              <a:rPr lang="en-US" dirty="0"/>
              <a:t> </a:t>
            </a:r>
            <a:r>
              <a:rPr lang="en-US" dirty="0" err="1"/>
              <a:t>gửi</a:t>
            </a:r>
            <a:r>
              <a:rPr lang="en-US" dirty="0"/>
              <a:t> Email/SMS </a:t>
            </a:r>
            <a:r>
              <a:rPr lang="en-US" dirty="0" err="1"/>
              <a:t>cảnh</a:t>
            </a:r>
            <a:r>
              <a:rPr lang="en-US" dirty="0"/>
              <a:t> </a:t>
            </a:r>
            <a:r>
              <a:rPr lang="en-US" dirty="0" err="1"/>
              <a:t>báo</a:t>
            </a:r>
            <a:r>
              <a:rPr lang="en-US" dirty="0"/>
              <a:t> </a:t>
            </a:r>
            <a:r>
              <a:rPr lang="en-US" dirty="0" err="1"/>
              <a:t>trực</a:t>
            </a:r>
            <a:r>
              <a:rPr lang="en-US" dirty="0"/>
              <a:t> </a:t>
            </a:r>
            <a:r>
              <a:rPr lang="en-US" dirty="0" err="1"/>
              <a:t>tiếp</a:t>
            </a:r>
            <a:r>
              <a:rPr lang="en-US" dirty="0"/>
              <a:t> </a:t>
            </a:r>
            <a:r>
              <a:rPr lang="en-US" dirty="0" err="1"/>
              <a:t>đến</a:t>
            </a:r>
            <a:r>
              <a:rPr lang="en-US" dirty="0"/>
              <a:t> </a:t>
            </a:r>
            <a:r>
              <a:rPr lang="en-US" dirty="0" err="1"/>
              <a:t>điện</a:t>
            </a:r>
            <a:r>
              <a:rPr lang="en-US" dirty="0"/>
              <a:t> </a:t>
            </a:r>
            <a:r>
              <a:rPr lang="en-US" dirty="0" err="1"/>
              <a:t>thoại</a:t>
            </a:r>
            <a:r>
              <a:rPr lang="en-US" dirty="0"/>
              <a:t> </a:t>
            </a:r>
            <a:r>
              <a:rPr lang="en-US" dirty="0" err="1"/>
              <a:t>quản</a:t>
            </a:r>
            <a:r>
              <a:rPr lang="en-US" dirty="0"/>
              <a:t> </a:t>
            </a:r>
            <a:r>
              <a:rPr lang="en-US" dirty="0" err="1"/>
              <a:t>lý</a:t>
            </a:r>
            <a:r>
              <a:rPr lang="en-US" dirty="0"/>
              <a:t> </a:t>
            </a:r>
            <a:r>
              <a:rPr lang="en-US" dirty="0" err="1"/>
              <a:t>khi</a:t>
            </a:r>
            <a:r>
              <a:rPr lang="en-US" dirty="0"/>
              <a:t> </a:t>
            </a:r>
            <a:r>
              <a:rPr lang="en-US" dirty="0" err="1"/>
              <a:t>phát</a:t>
            </a:r>
            <a:r>
              <a:rPr lang="en-US" dirty="0"/>
              <a:t> </a:t>
            </a:r>
            <a:r>
              <a:rPr lang="en-US" dirty="0" err="1"/>
              <a:t>hiện</a:t>
            </a:r>
            <a:r>
              <a:rPr lang="en-US" dirty="0"/>
              <a:t> </a:t>
            </a:r>
            <a:r>
              <a:rPr lang="en-US" dirty="0" err="1"/>
              <a:t>lô</a:t>
            </a:r>
            <a:r>
              <a:rPr lang="en-US" dirty="0"/>
              <a:t> </a:t>
            </a:r>
            <a:r>
              <a:rPr lang="en-US" dirty="0" err="1"/>
              <a:t>hàng</a:t>
            </a:r>
            <a:r>
              <a:rPr lang="en-US" dirty="0"/>
              <a:t> </a:t>
            </a:r>
            <a:r>
              <a:rPr lang="en-US" dirty="0" err="1"/>
              <a:t>sắp</a:t>
            </a:r>
            <a:r>
              <a:rPr lang="en-US" dirty="0"/>
              <a:t> </a:t>
            </a:r>
            <a:r>
              <a:rPr lang="en-US" dirty="0" err="1"/>
              <a:t>hết</a:t>
            </a:r>
            <a:r>
              <a:rPr lang="en-US" dirty="0"/>
              <a:t> </a:t>
            </a:r>
            <a:r>
              <a:rPr lang="en-US" dirty="0" err="1"/>
              <a:t>hạn</a:t>
            </a:r>
            <a:r>
              <a:rPr lang="en-US" dirty="0"/>
              <a:t>.</a:t>
            </a:r>
            <a:endParaRPr lang="en-US" dirty="0">
              <a:ea typeface="Source Sans Pro"/>
            </a:endParaRPr>
          </a:p>
          <a:p>
            <a:pPr algn="ctr"/>
            <a:endParaRPr lang="vi-VN"/>
          </a:p>
        </p:txBody>
      </p:sp>
    </p:spTree>
    <p:extLst>
      <p:ext uri="{BB962C8B-B14F-4D97-AF65-F5344CB8AC3E}">
        <p14:creationId xmlns:p14="http://schemas.microsoft.com/office/powerpoint/2010/main" val="1288853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hỗ dành sẵn cho Nội dung 2">
            <a:extLst>
              <a:ext uri="{FF2B5EF4-FFF2-40B4-BE49-F238E27FC236}">
                <a16:creationId xmlns:a16="http://schemas.microsoft.com/office/drawing/2014/main" id="{943FB1D5-8A88-4DD8-F16C-99B41B7CB732}"/>
              </a:ext>
            </a:extLst>
          </p:cNvPr>
          <p:cNvSpPr>
            <a:spLocks noGrp="1"/>
          </p:cNvSpPr>
          <p:nvPr>
            <p:ph idx="1"/>
          </p:nvPr>
        </p:nvSpPr>
        <p:spPr>
          <a:xfrm>
            <a:off x="5434149" y="932688"/>
            <a:ext cx="5916603" cy="4992624"/>
          </a:xfrm>
        </p:spPr>
        <p:txBody>
          <a:bodyPr lIns="109728" tIns="109728" rIns="109728" bIns="91440" anchor="ctr">
            <a:normAutofit/>
          </a:bodyPr>
          <a:lstStyle/>
          <a:p>
            <a:pPr marL="0" indent="0">
              <a:buNone/>
            </a:pPr>
            <a:r>
              <a:rPr lang="vi-VN" sz="4800">
                <a:ea typeface="+mn-lt"/>
                <a:cs typeface="+mn-lt"/>
              </a:rPr>
              <a:t>LỜI CẢM ƠN &amp; Q&amp;A</a:t>
            </a:r>
            <a:endParaRPr lang="vi-VN" sz="4800">
              <a:ea typeface="Source Sans Pro"/>
            </a:endParaRPr>
          </a:p>
        </p:txBody>
      </p:sp>
    </p:spTree>
    <p:extLst>
      <p:ext uri="{BB962C8B-B14F-4D97-AF65-F5344CB8AC3E}">
        <p14:creationId xmlns:p14="http://schemas.microsoft.com/office/powerpoint/2010/main" val="850083539"/>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otalTime>0</TotalTime>
  <Words>1809</Words>
  <Application>Microsoft Office PowerPoint</Application>
  <PresentationFormat>Widescreen</PresentationFormat>
  <Paragraphs>112</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Consolas</vt:lpstr>
      <vt:lpstr>Google Sans</vt:lpstr>
      <vt:lpstr>Segoe UI</vt:lpstr>
      <vt:lpstr>Source Sans Pro</vt:lpstr>
      <vt:lpstr>AccentBoxVTI</vt:lpstr>
      <vt:lpstr>XÂY DỰNG HỆ THỐNG QUẢN LÝ KHO &amp; HẠN SỬ DỤNG CHO CỬA HÀNG THỰC PHẨM SẠCH FRESHCARE </vt:lpstr>
      <vt:lpstr>Phụ lục </vt:lpstr>
      <vt:lpstr>Giới thiệu tổng quan</vt:lpstr>
      <vt:lpstr>Giới thiệu tổng quan</vt:lpstr>
      <vt:lpstr>II. Phân tích &amp; Đặc tả yêu cầu</vt:lpstr>
      <vt:lpstr>II. Phân tích &amp; Đặc tả yêu cầu </vt:lpstr>
      <vt:lpstr>III. Thiết kế Hệ thống &amp; Kiến trúc </vt:lpstr>
      <vt:lpstr>Kiến trúc MVC &amp; Công nghệ sử dụng</vt:lpstr>
      <vt:lpstr>2. Biểu đồ lớp(Class Diagram) </vt:lpstr>
      <vt:lpstr>Cải tiến kỹ thuật giúp hệ thống vận hành tốt</vt:lpstr>
      <vt:lpstr>3. Thiết kế CSDL</vt:lpstr>
      <vt:lpstr>IV. Giải quyết nghiệp vụ phức tạp </vt:lpstr>
      <vt:lpstr>Thuật toán xuất kho thông minh FEFO</vt:lpstr>
      <vt:lpstr>IV. Giải quyết nghiệp vụ phức tạp  </vt:lpstr>
      <vt:lpstr>V. Đảm bảo chất lượng &amp; Tổng kết </vt:lpstr>
      <vt:lpstr>V. Đảm bảo chất lượng &amp; Tổng kế</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steve provip</cp:lastModifiedBy>
  <cp:revision>733</cp:revision>
  <dcterms:created xsi:type="dcterms:W3CDTF">2026-04-18T07:34:52Z</dcterms:created>
  <dcterms:modified xsi:type="dcterms:W3CDTF">2026-04-18T13:35:18Z</dcterms:modified>
</cp:coreProperties>
</file>